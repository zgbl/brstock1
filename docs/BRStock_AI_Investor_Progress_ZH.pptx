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5badfca81e4c03" /><Relationship Type="http://schemas.openxmlformats.org/officeDocument/2006/relationships/extended-properties" Target="/docProps/app.xml" Id="R21afb59fdd24468f" /><Relationship Type="http://schemas.openxmlformats.org/officeDocument/2006/relationships/officeDocument" Target="/ppt/presentation.xml" Id="Ra38b4d89d5fd48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db13d90f5145c2"/>
  </p:sldMasterIdLst>
  <p:notesMasterIdLst>
    <p:notesMasterId xmlns:r="http://schemas.openxmlformats.org/officeDocument/2006/relationships" r:id="Rdbd2637846384f2e"/>
  </p:notesMasterIdLst>
  <p:sldIdLst>
    <p:sldId xmlns:r="http://schemas.openxmlformats.org/officeDocument/2006/relationships" id="256" r:id="R4e5e6c8038194114"/>
    <p:sldId xmlns:r="http://schemas.openxmlformats.org/officeDocument/2006/relationships" id="257" r:id="R9f7b231ff2e54aef"/>
    <p:sldId xmlns:r="http://schemas.openxmlformats.org/officeDocument/2006/relationships" id="258" r:id="Re753a4cee4284189"/>
    <p:sldId xmlns:r="http://schemas.openxmlformats.org/officeDocument/2006/relationships" id="259" r:id="R9af0c633822a428d"/>
    <p:sldId xmlns:r="http://schemas.openxmlformats.org/officeDocument/2006/relationships" id="260" r:id="Re82821632aa7420b"/>
    <p:sldId xmlns:r="http://schemas.openxmlformats.org/officeDocument/2006/relationships" id="261" r:id="R83f66d094e514538"/>
    <p:sldId xmlns:r="http://schemas.openxmlformats.org/officeDocument/2006/relationships" id="262" r:id="R66a579e4a967433b"/>
    <p:sldId xmlns:r="http://schemas.openxmlformats.org/officeDocument/2006/relationships" id="263" r:id="R76dcd29288df462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db13d90f5145c2" /><Relationship Type="http://schemas.openxmlformats.org/officeDocument/2006/relationships/theme" Target="/ppt/theme/theme1.xml" Id="Rc335fdf213ef42f8" /><Relationship Type="http://schemas.openxmlformats.org/officeDocument/2006/relationships/notesMaster" Target="/ppt/notesMasters/notesMaster1.xml" Id="Rdbd2637846384f2e" /><Relationship Type="http://schemas.openxmlformats.org/officeDocument/2006/relationships/presProps" Target="/ppt/presProps.xml" Id="R158cd1dcdec94ee9" /><Relationship Type="http://schemas.openxmlformats.org/officeDocument/2006/relationships/viewProps" Target="/ppt/viewProps.xml" Id="Rb9851af18e08462f" /><Relationship Type="http://schemas.openxmlformats.org/officeDocument/2006/relationships/tableStyles" Target="/ppt/tableStyles.xml" Id="Rcd984c2099f14da8" /><Relationship Type="http://schemas.openxmlformats.org/officeDocument/2006/relationships/slide" Target="/ppt/slides/slide1.xml" Id="R4e5e6c8038194114" /><Relationship Type="http://schemas.openxmlformats.org/officeDocument/2006/relationships/slide" Target="/ppt/slides/slide2.xml" Id="R9f7b231ff2e54aef" /><Relationship Type="http://schemas.openxmlformats.org/officeDocument/2006/relationships/slide" Target="/ppt/slides/slide3.xml" Id="Re753a4cee4284189" /><Relationship Type="http://schemas.openxmlformats.org/officeDocument/2006/relationships/slide" Target="/ppt/slides/slide4.xml" Id="R9af0c633822a428d" /><Relationship Type="http://schemas.openxmlformats.org/officeDocument/2006/relationships/slide" Target="/ppt/slides/slide5.xml" Id="Re82821632aa7420b" /><Relationship Type="http://schemas.openxmlformats.org/officeDocument/2006/relationships/slide" Target="/ppt/slides/slide6.xml" Id="R83f66d094e514538" /><Relationship Type="http://schemas.openxmlformats.org/officeDocument/2006/relationships/slide" Target="/ppt/slides/slide7.xml" Id="R66a579e4a967433b" /><Relationship Type="http://schemas.openxmlformats.org/officeDocument/2006/relationships/slide" Target="/ppt/slides/slide8.xml" Id="R76dcd29288df46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1ac1e103bb148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9cf436953f48ed" /><Relationship Type="http://schemas.openxmlformats.org/officeDocument/2006/relationships/notesMaster" Target="/ppt/notesMasters/notesMaster1.xml" Id="R6267ad1578b644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4eec3963574c6b" /><Relationship Type="http://schemas.openxmlformats.org/officeDocument/2006/relationships/notesMaster" Target="/ppt/notesMasters/notesMaster1.xml" Id="Rc937d806cb344e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169b95f6bb41f4" /><Relationship Type="http://schemas.openxmlformats.org/officeDocument/2006/relationships/notesMaster" Target="/ppt/notesMasters/notesMaster1.xml" Id="R520eedb901b544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1860826e204160" /><Relationship Type="http://schemas.openxmlformats.org/officeDocument/2006/relationships/notesMaster" Target="/ppt/notesMasters/notesMaster1.xml" Id="Rfe0db8729fa74c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17a7927fb34a03" /><Relationship Type="http://schemas.openxmlformats.org/officeDocument/2006/relationships/notesMaster" Target="/ppt/notesMasters/notesMaster1.xml" Id="R8296a1d37f474c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c836651e3f4042" /><Relationship Type="http://schemas.openxmlformats.org/officeDocument/2006/relationships/notesMaster" Target="/ppt/notesMasters/notesMaster1.xml" Id="R4499d3a9775640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99458994704ff2" /><Relationship Type="http://schemas.openxmlformats.org/officeDocument/2006/relationships/notesMaster" Target="/ppt/notesMasters/notesMaster1.xml" Id="R3b348e20c51341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36fd12bed744de" /><Relationship Type="http://schemas.openxmlformats.org/officeDocument/2006/relationships/notesMaster" Target="/ppt/notesMasters/notesMaster1.xml" Id="R2c39d76cf86b49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cff0e77a2543d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638077185944bbf" /><Relationship Type="http://schemas.openxmlformats.org/officeDocument/2006/relationships/slideLayout" Target="/ppt/slideLayouts/slideLayout2.xml" Id="R0b010734f7d040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010734f7d040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dad8ee7c2241a9" /><Relationship Type="http://schemas.openxmlformats.org/officeDocument/2006/relationships/notesSlide" Target="/ppt/notesSlides/notesSlide1.xml" Id="Rd6704214e15248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839af82e0c476d" /><Relationship Type="http://schemas.openxmlformats.org/officeDocument/2006/relationships/notesSlide" Target="/ppt/notesSlides/notesSlide2.xml" Id="R70d800a13f2d47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742a3150a44819" /><Relationship Type="http://schemas.openxmlformats.org/officeDocument/2006/relationships/notesSlide" Target="/ppt/notesSlides/notesSlide3.xml" Id="R1161ee0e026046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238324403540a5" /><Relationship Type="http://schemas.openxmlformats.org/officeDocument/2006/relationships/notesSlide" Target="/ppt/notesSlides/notesSlide4.xml" Id="Re6e1d876e9e045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ee51e0bb124f0d" /><Relationship Type="http://schemas.openxmlformats.org/officeDocument/2006/relationships/notesSlide" Target="/ppt/notesSlides/notesSlide5.xml" Id="R6b17490d2ce84d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5c20299a84411b" /><Relationship Type="http://schemas.openxmlformats.org/officeDocument/2006/relationships/notesSlide" Target="/ppt/notesSlides/notesSlide6.xml" Id="R5326a18d392f41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dd579e019d44af" /><Relationship Type="http://schemas.openxmlformats.org/officeDocument/2006/relationships/notesSlide" Target="/ppt/notesSlides/notesSlide7.xml" Id="Rebdcde6f2b6f45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39662ab88847e4" /><Relationship Type="http://schemas.openxmlformats.org/officeDocument/2006/relationships/notesSlide" Target="/ppt/notesSlides/notesSlide8.xml" Id="R1807828e0173486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AC2C37-71F4-42C0-85CD-F433F760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147A4-5EA9-41FC-A787-64E7173D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018BA-9631-4C64-901C-8C92263C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660587-DC84-435B-8168-FE6B9DB3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38BDF8"/>
                </a:solidFill>
                <a:latin typeface="PingFang SC"/>
                <a:ea typeface="PingFang SC"/>
                <a:cs typeface="PingFang SC"/>
              </a:rPr>
              <a:t>BRStock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6ED62-6687-4730-8408-BEAD7317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投资人项目进展汇报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C177B4-6E9D-423E-883D-8A4E7873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F16F8-4947-418B-B6BE-0A1DE8CB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8BDF8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38BDF8"/>
                </a:solidFill>
                <a:latin typeface="PingFang SC"/>
                <a:ea typeface="PingFang SC"/>
                <a:cs typeface="PingFang SC"/>
              </a:rPr>
              <a:t>项目进展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A46F6B-1ED2-41BC-9550-983C2F6D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7239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BRStock AI 正在从行情工具升级为策略证据工作台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520ED6-D49A-45C9-9372-7972B98D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一个中英双语平台，把市场数据、技术指标、AI 分析、合成期权链和历史回测连接成完整研究闭环。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6338E6-A75C-4372-B8F3-C101595F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4F1E9F-1CC2-41A2-8EBB-3E3F789B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8BDF8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38BDF8"/>
                </a:solidFill>
                <a:latin typeface="PingFang SC"/>
                <a:ea typeface="PingFang SC"/>
                <a:cs typeface="PingFang SC"/>
              </a:rPr>
              <a:t>FASTAPI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5D699E-9A09-4146-8F5F-287D44BC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100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17BE62-6A55-4C88-A842-E469E42D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267200"/>
            <a:ext cx="1200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2C55E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22C55E"/>
                </a:solidFill>
                <a:latin typeface="PingFang SC"/>
                <a:ea typeface="PingFang SC"/>
                <a:cs typeface="PingFang SC"/>
              </a:rPr>
              <a:t>OPTION SYNTH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CAF9AC-B75F-43F5-9418-5F79A196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1005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0BE538-5A30-4150-8615-822FA9F3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67200"/>
            <a:ext cx="1028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A78BFA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A78BFA"/>
                </a:solidFill>
                <a:latin typeface="PingFang SC"/>
                <a:ea typeface="PingFang SC"/>
                <a:cs typeface="PingFang SC"/>
              </a:rPr>
              <a:t>AI ANALYST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62BCBF-CE46-488B-91A5-78C22A84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57300"/>
            <a:ext cx="3143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1"/>
          </a:solidFill>
          <a:ln xmlns:a="http://schemas.openxmlformats.org/drawingml/2006/main" w="9525">
            <a:solidFill>
              <a:srgbClr val="2440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8DB92A-2853-4644-A468-FA6CF72D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240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当前产品进展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0C960C-8AD3-470A-95C6-511EA29A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85950"/>
            <a:ext cx="234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0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655176-6D03-437E-8988-19AAF866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8BDF8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38BDF8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2A0ABB-ED20-48CC-B7ED-76707F7D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907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核心页面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8855C8-EF63-4B36-80AC-6611A1A2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384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Dashboard、图表、AI、策略、回测、期权、合成链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AFA92B-E08B-47B3-AD44-62C5E620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43250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2C55E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C55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052073-6148-41C5-9480-973C85B5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813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后端业务域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834701-FCB7-48F5-9288-98098B0D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290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认证、股票、期权、策略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5E4B38-D219-4261-B6A5-C1721D7F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33850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A78BF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A78BFA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0CAB6A-073D-4D93-A621-1D89DDD8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719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策略类型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68D279-DB28-42FC-A9D9-563F4412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196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RSI、均线、MACD、布林、价差、组合袖仓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7D8A9C-70E2-46EC-9E10-9FB11C36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788A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F788A"/>
                </a:solidFill>
                <a:latin typeface="PingFang SC"/>
                <a:ea typeface="PingFang SC"/>
                <a:cs typeface="PingFang SC"/>
              </a:rPr>
              <a:t>BRStock AI | 产品进展与开发路线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6B5B92-90DA-4CE4-AB65-E0448252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19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788A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F788A"/>
                </a:solidFill>
                <a:latin typeface="PingFang SC"/>
                <a:ea typeface="PingFang SC"/>
                <a:cs typeface="PingFang SC"/>
              </a:rPr>
              <a:t>2026 年 5 月</a:t>
            </a:r>
          </a:p>
        </p:txBody>
      </p:sp>
    </p:spTree>
    <p:extLst>
      <p:ext uri="{BB962C8B-B14F-4D97-AF65-F5344CB8AC3E}">
        <p14:creationId xmlns:p14="http://schemas.microsoft.com/office/powerpoint/2010/main" val="202740506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424633-9D4F-47DF-A337-D3491661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8915C-0A57-4469-97C6-E36BDAEC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AAEFB4-5D2A-4038-918F-52A5CEEC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A51BA0-C9A3-4EC7-8D34-9766BEDD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38BDF8"/>
                </a:solidFill>
                <a:latin typeface="PingFang SC"/>
                <a:ea typeface="PingFang SC"/>
                <a:cs typeface="PingFang SC"/>
              </a:rPr>
              <a:t>BRStock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BA920-075F-48CE-B1D4-69954799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投资人项目进展汇报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DB9A1A-AA50-4C39-9C45-EE44117E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5EE9E9-81E6-490C-931C-8414FDAD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8BDF8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38BDF8"/>
                </a:solidFill>
                <a:latin typeface="PingFang SC"/>
                <a:ea typeface="PingFang SC"/>
                <a:cs typeface="PingFang SC"/>
              </a:rPr>
              <a:t>市场缺口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1C099-14D5-4713-8170-58F29590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8858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个人交易者不缺报价工具，缺的是能解释策略是否可信的证据系统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5FA90E-3285-4306-924F-85DACB18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05050"/>
            <a:ext cx="7524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现在的交易研究流程很分散：图表、期权链、AI 笔记和回测结果彼此割裂，而且很多回测没有把假设说清楚。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30A563-F13D-4C4D-B122-6F6F92C4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8592B7-4FC8-4AC2-99D3-6274AA4A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01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71018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BE0931-61B4-4624-8C1D-51ACB720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24275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历史期权链数据昂贵，个人交易者很难长期获得。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6FA420-033D-4401-B4C0-2EC02ADA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86EF92-7593-429C-9A4D-B0D6AEE8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672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01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71018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C092E0-E0BA-4525-BF81-64E447AA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10075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AI 分析只有绑定真实指标、参数假设和回测结果时才有价值。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A78A45-EE42-4D93-BB1E-56E0B195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7AA071-03F7-4861-B787-6AE3607F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530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01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71018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C9F4E8-FD17-4EE0-B060-CBC8E5B2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95875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策略迭代需要保存证据链，而不是依赖一次性的截图和感觉。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F05FA3-8DFD-440E-B4E2-0BBD3F52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90900"/>
            <a:ext cx="22860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1"/>
          </a:solidFill>
          <a:ln xmlns:a="http://schemas.openxmlformats.org/drawingml/2006/main" w="9525">
            <a:solidFill>
              <a:srgbClr val="2440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6CF333-ECFA-417F-99E7-D6FE3736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385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割裂的研究流程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561989-A3F3-4D78-BF7C-4E7FFAE0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624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650D65-A654-4946-ADA1-6904DEAD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7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图表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29AAAA-9C12-406E-90C5-129D6296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053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74AC72-7EB8-4538-AFEE-71E87D11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19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期权链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4D51E9-EB58-43E8-BD47-8CDED067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482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7311F1-E8BA-4B3D-B2F1-1C5DB6CB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625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AI 笔记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DA14B6-C84E-4C09-AE45-425EA301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911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4652C9-D6AF-4FC0-B50C-BB0832DD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1054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回测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A6C505-A805-49AA-ABF9-79376558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788A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F788A"/>
                </a:solidFill>
                <a:latin typeface="PingFang SC"/>
                <a:ea typeface="PingFang SC"/>
                <a:cs typeface="PingFang SC"/>
              </a:rPr>
              <a:t>BRStock AI | 产品进展与开发路线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CB26C2-9180-49A7-BBB7-B069933F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19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788A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F788A"/>
                </a:solidFill>
                <a:latin typeface="PingFang SC"/>
                <a:ea typeface="PingFang SC"/>
                <a:cs typeface="PingFang SC"/>
              </a:rPr>
              <a:t>2026 年 5 月</a:t>
            </a:r>
          </a:p>
        </p:txBody>
      </p:sp>
    </p:spTree>
    <p:extLst>
      <p:ext uri="{BB962C8B-B14F-4D97-AF65-F5344CB8AC3E}">
        <p14:creationId xmlns:p14="http://schemas.microsoft.com/office/powerpoint/2010/main" val="6003839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B8B2F9-7CF4-47F0-AA2B-B5A50375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BE66C-7855-4520-B17B-C3FB15C4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8B3D1-2B3B-400D-BD7E-3BE41328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72BFD-C0A0-4C8B-BC5F-ED2F905F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38BDF8"/>
                </a:solidFill>
                <a:latin typeface="PingFang SC"/>
                <a:ea typeface="PingFang SC"/>
                <a:cs typeface="PingFang SC"/>
              </a:rPr>
              <a:t>BRStock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97F93-5A82-44EE-9306-298FD9B0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投资人项目进展汇报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908CE3-3A61-4BD6-859E-699DF264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518545-4CFB-4648-AC7C-2477F4C7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525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8BDF8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38BDF8"/>
                </a:solidFill>
                <a:latin typeface="PingFang SC"/>
                <a:ea typeface="PingFang SC"/>
                <a:cs typeface="PingFang SC"/>
              </a:rPr>
              <a:t>当前构建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4CA04D-9CB5-49AC-8B62-97D4F2A7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8477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项目已经具备完整研究闭环的基础模块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5190D2-5BC4-42C9-9232-10E52E49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7524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FastAPI 后端、静态交易工作台、数据库回退、Moomoo 接入路径、AI 多提供方回退和 OptionSynth 已经形成可演示的产品雏形。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2F0D53-6EA1-43C4-AA69-2BEEBC2C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1543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968FA2-0B41-4730-9454-FAFB28C8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386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769C91-4F72-4D84-94FE-66F903D9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5720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A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DEEEB5-705D-42C9-83DE-519A07DF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171950"/>
            <a:ext cx="1543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2440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CE4308-60DD-4822-8815-F1F7438A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386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指标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34B3C7-6D83-4DF2-8CB1-175DD0BD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5720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A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394C09-3CA1-45E0-9EAB-6DC6FBED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171950"/>
            <a:ext cx="1543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2440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6C9B68-11E8-4C13-93F5-4AF79717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386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AI 解读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6D5103-5DC0-49C8-BD01-6CDF9DAC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5720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A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14B665-FCCE-4BDD-817E-B6DCFBAB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71950"/>
            <a:ext cx="1543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4DCB79-9065-494D-8202-3C1BBC3B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386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OptionSynth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32B02D-1F3E-4D31-8DB4-32823DDF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5720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A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15B0BF-2C22-4221-AE70-5B3D79A2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71950"/>
            <a:ext cx="1543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2440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696562-E55F-41E1-A3D2-9F390590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386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回测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E4838C-8875-4202-9551-59FF28B5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720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A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0B640A-FEF2-4004-9B5A-B1CABD3A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71950"/>
            <a:ext cx="1543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24405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71C79D-712F-421D-AF6A-4438C28C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4386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报告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BE4F7B-EDD0-43B4-88A3-2DF413FE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1020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现有模块已经形成基础闭环；下一步是把证据集中到一个清晰工作流里。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D8E0CD-C04A-4077-B58D-EA274897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788A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F788A"/>
                </a:solidFill>
                <a:latin typeface="PingFang SC"/>
                <a:ea typeface="PingFang SC"/>
                <a:cs typeface="PingFang SC"/>
              </a:rPr>
              <a:t>BRStock AI | 产品进展与开发路线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2C213D-F60D-4ECB-BFCE-6D971370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19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788A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F788A"/>
                </a:solidFill>
                <a:latin typeface="PingFang SC"/>
                <a:ea typeface="PingFang SC"/>
                <a:cs typeface="PingFang SC"/>
              </a:rPr>
              <a:t>2026 年 5 月</a:t>
            </a:r>
          </a:p>
        </p:txBody>
      </p:sp>
    </p:spTree>
    <p:extLst>
      <p:ext uri="{BB962C8B-B14F-4D97-AF65-F5344CB8AC3E}">
        <p14:creationId xmlns:p14="http://schemas.microsoft.com/office/powerpoint/2010/main" val="193750459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60100C-EC02-4062-8047-47957F98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54BFA3-CAD5-49A8-97E6-589C91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AA03F6-689C-482D-8B8C-32BAF398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E4479-E6AE-4EE7-87BE-F98C7897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38BDF8"/>
                </a:solidFill>
                <a:latin typeface="PingFang SC"/>
                <a:ea typeface="PingFang SC"/>
                <a:cs typeface="PingFang SC"/>
              </a:rPr>
              <a:t>BRStock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6A13F-A5FA-45A1-A5B1-95A5EBB3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投资人项目进展汇报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104E8B-4D02-4FAF-AB1B-FDBE4C52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204AE6-D406-4C2D-AC1A-73368F23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8BDF8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38BDF8"/>
                </a:solidFill>
                <a:latin typeface="PingFang SC"/>
                <a:ea typeface="PingFang SC"/>
                <a:cs typeface="PingFang SC"/>
              </a:rPr>
              <a:t>产品界面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EDB4F-F598-4FCF-B85C-70C457FC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857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产品已从 MVP 进入多模块交易控制台阶段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635B1B-B7DE-4234-B962-77DFD4E9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2971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1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B2301B-C471-493C-B93C-F137759B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C75D85-0607-4CC8-9BAD-678271D7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D2F80F-464E-4B39-93E1-88251862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240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自选股、市场状态、活动摘要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869C03-7877-4839-A0EA-81304585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33750"/>
            <a:ext cx="2971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1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F20E94-75FC-464D-A76F-C0159F51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052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图表分析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DB62E7-BE21-440C-A430-30804019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909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B74ED1-C159-432A-BF44-28827F9F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886200"/>
            <a:ext cx="240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K 线、成交量、RSI、MACD、均线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9D8575-49D1-4226-A0EA-4EDC3674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33750"/>
            <a:ext cx="2971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1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5501AC-66D5-46D0-A6F4-C69D3B39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052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AI Insights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6954D3-9FA6-4B77-9AD5-7F21F32C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909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845DF3-25E1-4F65-8FD4-78EA19C6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86200"/>
            <a:ext cx="240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多模型分析路径，中英文输出方向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AEE184-1D84-4850-954B-4A9CD371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2971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1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C0C0EB-50C7-41B4-893A-0311735B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244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回测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29D716-6415-4B58-9EE5-0A9C6A1D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12C4F1-B86A-4717-8769-0A32870C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240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股票、期权、组合策略模拟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4E225D-B2E4-4EB6-9617-AD7A3B64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52950"/>
            <a:ext cx="2971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1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FDF860-CDA9-42C2-8019-1A005053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7244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期权分析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CD9071-EACE-4816-AEA8-10EAFBD5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0101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CE8B4B-D3FF-4846-B4AE-9FBC66FA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105400"/>
            <a:ext cx="240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Moomoo 实时链路径和合成链兜底方向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7EAFD7-E8A5-45A1-8C07-3218DEEB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52950"/>
            <a:ext cx="2971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1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09AB05-04FE-4786-9ACD-F196045B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244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合成链检查器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17D21D-E30B-49C7-A24A-6781E5AB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101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3E6EAF-2F77-413A-BDD5-30CA4BAF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05400"/>
            <a:ext cx="240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检查 IV、Greeks、bid/ask/mid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13EC5B-76BB-4854-ACE2-8F341F84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788A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F788A"/>
                </a:solidFill>
                <a:latin typeface="PingFang SC"/>
                <a:ea typeface="PingFang SC"/>
                <a:cs typeface="PingFang SC"/>
              </a:rPr>
              <a:t>BRStock AI | 产品进展与开发路线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5F74D3-71CB-4921-96BA-88CE947D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19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788A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F788A"/>
                </a:solidFill>
                <a:latin typeface="PingFang SC"/>
                <a:ea typeface="PingFang SC"/>
                <a:cs typeface="PingFang SC"/>
              </a:rPr>
              <a:t>2026 年 5 月</a:t>
            </a:r>
          </a:p>
        </p:txBody>
      </p:sp>
    </p:spTree>
    <p:extLst>
      <p:ext uri="{BB962C8B-B14F-4D97-AF65-F5344CB8AC3E}">
        <p14:creationId xmlns:p14="http://schemas.microsoft.com/office/powerpoint/2010/main" val="118120810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E8B215-E82B-461B-84A3-9884C6CD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38A03-603A-47FF-8B13-2FB11D6A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E8A617-42FE-4272-B78E-01B72E17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9EC825-382E-466C-A57D-5F598819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38BDF8"/>
                </a:solidFill>
                <a:latin typeface="PingFang SC"/>
                <a:ea typeface="PingFang SC"/>
                <a:cs typeface="PingFang SC"/>
              </a:rPr>
              <a:t>BRStock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5DFD9-9541-45BD-A018-AEFA3C73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投资人项目进展汇报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F7BE32-81CC-48EA-AE9C-D8B8A1E1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12556-7A82-41F0-961E-EE1BA16C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8BDF8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38BDF8"/>
                </a:solidFill>
                <a:latin typeface="PingFang SC"/>
                <a:ea typeface="PingFang SC"/>
                <a:cs typeface="PingFang SC"/>
              </a:rPr>
              <a:t>差异化切入点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7FFFBE-4673-4AF6-B9D9-1F8EE6B8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8191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OptionSynth 是现阶段最强的早期差异化能力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9EEE6A-78FB-401B-B49B-BA935A8E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14600"/>
            <a:ext cx="7524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它把长期股票历史数据转化为合成期权链，让用户即使没有历史期权链，也能验证期权策略。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EC7D23-8E58-43D7-8ABC-2268C184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1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40FF1-C973-45C3-A1A1-62604F30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BDF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8BDF8"/>
                </a:solidFill>
                <a:latin typeface="PingFang SC"/>
                <a:ea typeface="PingFang SC"/>
                <a:cs typeface="PingFang SC"/>
              </a:rPr>
              <a:t>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EED065-351E-4E6D-B68E-A84F0E0A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576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日线价格、RSI、20 日历史波动率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D2A6FA-372B-4CB8-B0C2-DC214560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98145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0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D60B46-BCA6-4B0C-9C9E-15AA07B9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19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1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26DFAE-2128-45D6-9346-6923C2E5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8625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8BF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A78BFA"/>
                </a:solidFill>
                <a:latin typeface="PingFang SC"/>
                <a:ea typeface="PingFang SC"/>
                <a:cs typeface="PingFang SC"/>
              </a:rPr>
              <a:t>引擎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B5EAED-55BE-4150-9680-96CF9783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24815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合成 IV、偏斜、Black-Scholes、Greeks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F51465-D5A0-420C-A759-4DEEA452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57200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0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E9AF9C-CEC6-4C17-A798-02A64D98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1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1097DC-EDB6-4651-9694-8D1BAC7E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C55E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2C55E"/>
                </a:solidFill>
                <a:latin typeface="PingFang SC"/>
                <a:ea typeface="PingFang SC"/>
                <a:cs typeface="PingFang SC"/>
              </a:rPr>
              <a:t>输出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E307D4-4196-4CF0-9799-CA30EEB7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8387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Call/Put、bid/ask/mid、权利金、Delta、Gamma、Theta、Vega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BEED3B-374A-4EA4-A503-BF235008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16255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0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B0E352-5FE4-44E9-B992-9C5D7DC3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1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2D8170-F02E-42F7-AAC2-4AEE2CEB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6735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用途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7FBD2C-4666-4266-B6C5-10220929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42925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WHEELS、LEAPS、借方/贷方价差、组合袖仓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E2F943-C825-4FCA-B331-EFB523FA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71600"/>
            <a:ext cx="1905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1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333124-DD98-4C3A-8D35-E1559E62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192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C55E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2C55E"/>
                </a:solidFill>
                <a:latin typeface="PingFang SC"/>
                <a:ea typeface="PingFang SC"/>
                <a:cs typeface="PingFang SC"/>
              </a:rPr>
              <a:t>为什么重要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3E23FA-D874-41FA-9EDC-6FE3936D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240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在昂贵历史期权链问题解决前，合成链已经能支撑策略验证演示。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732919-2E0A-4362-BA09-A60AD484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788A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F788A"/>
                </a:solidFill>
                <a:latin typeface="PingFang SC"/>
                <a:ea typeface="PingFang SC"/>
                <a:cs typeface="PingFang SC"/>
              </a:rPr>
              <a:t>BRStock AI | 产品进展与开发路线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54AF8C-18B0-40A8-83EE-9B9FB754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19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788A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F788A"/>
                </a:solidFill>
                <a:latin typeface="PingFang SC"/>
                <a:ea typeface="PingFang SC"/>
                <a:cs typeface="PingFang SC"/>
              </a:rPr>
              <a:t>2026 年 5 月</a:t>
            </a:r>
          </a:p>
        </p:txBody>
      </p:sp>
    </p:spTree>
    <p:extLst>
      <p:ext uri="{BB962C8B-B14F-4D97-AF65-F5344CB8AC3E}">
        <p14:creationId xmlns:p14="http://schemas.microsoft.com/office/powerpoint/2010/main" val="2601186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566CDB-7717-4D19-BFAB-153F3522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7E4D7-8391-4AF3-8CB7-C75AA775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4B26C1-B07D-4A18-AB9A-144C66B2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39AAD-21A3-422F-A66E-A2A9FB9A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38BDF8"/>
                </a:solidFill>
                <a:latin typeface="PingFang SC"/>
                <a:ea typeface="PingFang SC"/>
                <a:cs typeface="PingFang SC"/>
              </a:rPr>
              <a:t>BRStock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194A7-5211-4126-80CF-A3D98D9A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投资人项目进展汇报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17679B-2275-4AE9-B816-7A18DED4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E9EE91-8137-4292-905E-AF4C6090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8BDF8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38BDF8"/>
                </a:solidFill>
                <a:latin typeface="PingFang SC"/>
                <a:ea typeface="PingFang SC"/>
                <a:cs typeface="PingFang SC"/>
              </a:rPr>
              <a:t>下一阶段产品重点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81830F-A0A6-4A88-BE7A-9D63A3A9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Strategy Evidence Lab 会把产品统一成一个投资人可理解的演示流程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026572-36EC-4231-A322-A419031B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14600"/>
            <a:ext cx="7524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一个页面解释信号、运行回测、比较基准、披露假设，并生成中英文策略报告。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49C7A6-5A47-4DB5-8C62-D63996EA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48100"/>
            <a:ext cx="25146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1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9175B8-3A82-4AAF-AF9F-DA9F3C26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3434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Strategy Evidence Lab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9F9B3B-79D3-490C-B1CC-3F5A6F0B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19450"/>
            <a:ext cx="1638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689D85-24C9-449B-9136-D5B371FC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337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信号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3471E-CE88-4344-8A81-B10BEACB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814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为什么现在出现机会？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47C72E-EC92-4DAC-A2E0-B2051494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52750"/>
            <a:ext cx="1638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F88FF1-33D3-49BC-8F32-8749DCBB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670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F9A38F-B674-4230-AA83-FAB0DD8B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3147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历史上表现如何？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E216A3-E330-45D2-9BB4-00BCD1C9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19450"/>
            <a:ext cx="1638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48E954-DB48-4349-9B97-FADD2C92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337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假设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E41963-8516-48C6-9888-AD091D3E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814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数据源和成交模型是什么？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5D772A-FA26-4ED8-8D36-60E26DE9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933950"/>
            <a:ext cx="1638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85E5B2-F32A-4FFC-802E-EE09C300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0482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风险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7132F4-5428-4E4A-A096-A10B45AC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959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在哪些行情下失效？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8DA20C-15B6-4882-AA05-31E0CC18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933950"/>
            <a:ext cx="1638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56277F-1F52-4B46-A3E4-48A1CC55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482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报告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3A9FFC-34A2-4A4A-81CE-935FE721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959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下一步应该测试什么？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E5AEA7-2893-4A60-97DB-D1918B35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788A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F788A"/>
                </a:solidFill>
                <a:latin typeface="PingFang SC"/>
                <a:ea typeface="PingFang SC"/>
                <a:cs typeface="PingFang SC"/>
              </a:rPr>
              <a:t>BRStock AI | 产品进展与开发路线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EC0BE0-AE09-484B-9EDD-7FD5EB6A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19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788A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F788A"/>
                </a:solidFill>
                <a:latin typeface="PingFang SC"/>
                <a:ea typeface="PingFang SC"/>
                <a:cs typeface="PingFang SC"/>
              </a:rPr>
              <a:t>2026 年 5 月</a:t>
            </a:r>
          </a:p>
        </p:txBody>
      </p:sp>
    </p:spTree>
    <p:extLst>
      <p:ext uri="{BB962C8B-B14F-4D97-AF65-F5344CB8AC3E}">
        <p14:creationId xmlns:p14="http://schemas.microsoft.com/office/powerpoint/2010/main" val="8567237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4F2890-40D8-4EEF-A8AF-B5EB3270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6FC001-2D1B-4049-85B9-5C8FD09C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805A57-E55B-4FFF-815C-93350284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971478-F444-4858-A416-FBAD9708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38BDF8"/>
                </a:solidFill>
                <a:latin typeface="PingFang SC"/>
                <a:ea typeface="PingFang SC"/>
                <a:cs typeface="PingFang SC"/>
              </a:rPr>
              <a:t>BRStock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0AC594-5E03-4AFD-B6B4-D8A3BC86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投资人项目进展汇报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ED712-AB99-4078-B6FA-D36D67F9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2B14EA-ADFE-48E3-BF78-DE8755CE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8BDF8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38BDF8"/>
                </a:solidFill>
                <a:latin typeface="PingFang SC"/>
                <a:ea typeface="PingFang SC"/>
                <a:cs typeface="PingFang SC"/>
              </a:rPr>
              <a:t>开发路线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3BCF83-E25C-46E2-885D-024AC3CA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8001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后续开发应保持小步快跑，每次只完成一两个可验证功能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DD0A70-283C-470A-A69D-6B133EFF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562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1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D066F7-D58E-42FB-AD04-D0CAC3A4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71950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BDF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8BDF8"/>
                </a:solidFill>
                <a:latin typeface="PingFang SC"/>
                <a:ea typeface="PingFang SC"/>
                <a:cs typeface="PingFang SC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9FB74E-DEAC-4121-8F1F-DEB39BB2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1485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稳定化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148888-673C-4BDA-9879-EDE316E1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006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8CCE45-19FD-4C63-9AA3-A9D8E976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1490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接口契约、数据标签、烟测清单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FA75BE-81C8-464D-85A4-AB976340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86300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0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367DB5-93C9-4AD7-B9B4-2B465D41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00500"/>
            <a:ext cx="1562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1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CFE0F6-BF7E-4B5E-8E48-8824F5DB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71950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BDF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8BDF8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7A132A-9915-4EB4-AAF9-97D53F07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1485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可信度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D2E2B4-40FE-4941-9E25-EEB31D26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8006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9A5B43-4C0B-4088-8B55-424EA033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1490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假设面板、基准比较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356128-99F3-4238-B4DD-7CE8A0AB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86300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0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999D3D-C191-48D8-9592-EAD721A4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00500"/>
            <a:ext cx="1562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1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1FADFA-E42D-4AB5-80A5-5A8EE876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71950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C55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2C55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0A5462-777A-497B-B3B6-AFBAFEC4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1485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Lab MVP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BF5AE9-9275-46B6-9724-F7C656E7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006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7C5059-3548-437D-B241-1F444BEC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1490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证据快照接口、统一研究页面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C2306B-0145-4CFE-85A6-10A476DA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86300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0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21D3F2-ABEB-4D51-A0BB-E5A22B0E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00500"/>
            <a:ext cx="1562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1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6E3949-423F-4ADA-AFF3-77AA3DAF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C55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2C55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FF30E7-A184-4B89-B2E2-2AADEB80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1485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AI 报告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563BB3-53E4-4CF3-94B3-72AED350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006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44783C-F7AE-4FCF-93DF-C4BDF4B6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1490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把结构化证据转成中英文报告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AFFC34-6525-4220-A736-D3E58D1F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86300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0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F9B458-8789-4B97-B6F6-50FBB2A4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00500"/>
            <a:ext cx="1562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1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5930F3-825A-4371-BEF0-E28E5DC5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71950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78BF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78BFA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45FEB8-6CBE-461F-A0A2-C0DAAB0A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1485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实验历史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955F4D-4289-4FC6-9CED-8C64F1E5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006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1BA9CB-0778-4CCB-9310-95C31683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1490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保存并比较策略实验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79CE53-457D-4E0A-92E8-248B4199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686300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0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87EE17-C9C9-4DBE-A901-48927C97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000500"/>
            <a:ext cx="1562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1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D0CB15-EA85-4301-B3CF-6612BF3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171950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78BF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78BFA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4C60E5-C4C5-4AF2-B068-9192521D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51485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真实数据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56137C-CEE2-4A71-99E5-01B647E9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8006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830713-2361-4778-97DB-D63B44A8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91490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统一期权链提供方数据结构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26E9CE-68A9-48D2-8952-AADFD9E6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788A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F788A"/>
                </a:solidFill>
                <a:latin typeface="PingFang SC"/>
                <a:ea typeface="PingFang SC"/>
                <a:cs typeface="PingFang SC"/>
              </a:rPr>
              <a:t>BRStock AI | 产品进展与开发路线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F07CE6-75BB-4D9E-97DF-101F5031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19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788A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F788A"/>
                </a:solidFill>
                <a:latin typeface="PingFang SC"/>
                <a:ea typeface="PingFang SC"/>
                <a:cs typeface="PingFang SC"/>
              </a:rPr>
              <a:t>2026 年 5 月</a:t>
            </a:r>
          </a:p>
        </p:txBody>
      </p:sp>
    </p:spTree>
    <p:extLst>
      <p:ext uri="{BB962C8B-B14F-4D97-AF65-F5344CB8AC3E}">
        <p14:creationId xmlns:p14="http://schemas.microsoft.com/office/powerpoint/2010/main" val="79735248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E9CC90-C8BF-4F34-99BA-83C11BFB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FD7D7-D5E3-42DD-AE63-D4CD9AD9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CEFD6-FF4E-4B64-8936-5196094A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4745D-5802-4B0B-AB48-EE02D4EC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38BDF8"/>
                </a:solidFill>
                <a:latin typeface="PingFang SC"/>
                <a:ea typeface="PingFang SC"/>
                <a:cs typeface="PingFang SC"/>
              </a:rPr>
              <a:t>BRStock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C82C1D-2621-4ADC-B170-FBDEBDC2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投资人项目进展汇报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18B3B-D4B9-4766-9E1D-00D469AF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82919-733C-42B3-8F48-E6145145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8BDF8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38BDF8"/>
                </a:solidFill>
                <a:latin typeface="PingFang SC"/>
                <a:ea typeface="PingFang SC"/>
                <a:cs typeface="PingFang SC"/>
              </a:rPr>
              <a:t>投资人结论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623639-5275-4BD7-A20F-1AC17EE9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8763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下一里程碑不是继续堆功能，而是做出可信的策略验证闭环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1151E4-9C51-4E96-B2FD-5DBD8320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7524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EA4B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EA4B5"/>
                </a:solidFill>
                <a:latin typeface="PingFang SC"/>
                <a:ea typeface="PingFang SC"/>
                <a:cs typeface="PingFang SC"/>
              </a:rPr>
              <a:t>BRStock AI 的定位是实用交易研究系统：研究、测试、解释、保存、比较、迭代。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7992AB-C973-4287-8545-D05977BF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9906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1"/>
          </a:solidFill>
          <a:ln xmlns:a="http://schemas.openxmlformats.org/drawingml/2006/main" w="9525">
            <a:solidFill>
              <a:srgbClr val="2440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E2E5E8-427D-42A0-AB6C-2863673C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38BDF8"/>
                </a:solidFill>
                <a:latin typeface="PingFang SC"/>
                <a:ea typeface="PingFang SC"/>
                <a:cs typeface="PingFang SC"/>
              </a:rPr>
              <a:t>近期演示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7FD95D-0AA0-4F9C-B356-CC5BECAF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8FB87E-A66B-4340-9D38-3204759B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91050"/>
            <a:ext cx="2419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Strategy Evidence Lab MVP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27B8E0-7C97-4824-908A-355B23F2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957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C55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2C55E"/>
                </a:solidFill>
                <a:latin typeface="PingFang SC"/>
                <a:ea typeface="PingFang SC"/>
                <a:cs typeface="PingFang SC"/>
              </a:rPr>
              <a:t>技术壁垒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50BCD8-4BD8-4999-890E-C4E6A68A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43865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B38FBF-9884-44B2-AAF4-058CB1C4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591050"/>
            <a:ext cx="2419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合成期权链验证和假设透明化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492EF5-CE83-4AEF-B59A-D34993ED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957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8BF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A78BFA"/>
                </a:solidFill>
                <a:latin typeface="PingFang SC"/>
                <a:ea typeface="PingFang SC"/>
                <a:cs typeface="PingFang SC"/>
              </a:rPr>
              <a:t>商业路径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C00569-6F0E-4C68-B513-B3DB323B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3865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23B385-4198-4993-9728-3442F0D4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591050"/>
            <a:ext cx="2419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EAF2F8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EAF2F8"/>
                </a:solidFill>
                <a:latin typeface="PingFang SC"/>
                <a:ea typeface="PingFang SC"/>
                <a:cs typeface="PingFang SC"/>
              </a:rPr>
              <a:t>面向活跃股票和期权交易者的高级研究工作流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C91E28-37E7-4F02-9EFC-48ABB30A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43550"/>
            <a:ext cx="781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8BDF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8BDF8"/>
                </a:solidFill>
                <a:latin typeface="PingFang SC"/>
                <a:ea typeface="PingFang SC"/>
                <a:cs typeface="PingFang SC"/>
              </a:rPr>
              <a:t>研究 -&gt; 测试 -&gt; 解释 -&gt; 保存 -&gt; 比较 -&gt; 迭代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26DC24-1482-44E2-A36F-D0C9DBE3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788A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F788A"/>
                </a:solidFill>
                <a:latin typeface="PingFang SC"/>
                <a:ea typeface="PingFang SC"/>
                <a:cs typeface="PingFang SC"/>
              </a:rPr>
              <a:t>BRStock AI | 产品进展与开发路线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01B72B-E11F-49B7-99D3-1E1C9ED7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19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788A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F788A"/>
                </a:solidFill>
                <a:latin typeface="PingFang SC"/>
                <a:ea typeface="PingFang SC"/>
                <a:cs typeface="PingFang SC"/>
              </a:rPr>
              <a:t>2026 年 5 月</a:t>
            </a:r>
          </a:p>
        </p:txBody>
      </p:sp>
    </p:spTree>
    <p:extLst>
      <p:ext uri="{BB962C8B-B14F-4D97-AF65-F5344CB8AC3E}">
        <p14:creationId xmlns:p14="http://schemas.microsoft.com/office/powerpoint/2010/main" val="13303057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2026-05-10T22:41:47.8050000Z</dcterms:created>
  <dcterms:modified xsi:type="dcterms:W3CDTF">2026-05-10T22:41:47.8050000Z</dcterms:modified>
</coreProperties>
</file>