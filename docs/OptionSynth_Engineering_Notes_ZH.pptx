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92"/>
    <p:restoredTop sz="94699"/>
  </p:normalViewPr>
  <p:slideViewPr>
    <p:cSldViewPr snapToGrid="0">
      <p:cViewPr varScale="1">
        <p:scale>
          <a:sx n="149" d="100"/>
          <a:sy n="149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08A2E82-B02A-4686-81A5-BC88910A0F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E4BECE82-BE9B-49FF-BAE7-4D389622E50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PROJECT CONTEXT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DCAEACB8-BD27-49D5-9673-C55239EBA8D9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E2490-4FAE-45DA-AFC7-42E1BD87671F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BRstock 把行情、分析和回测放进同一个研究闭环。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C24BA0-1385-4099-9A9B-278D011544CF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从历史数据、技术指标、AI 辅助分析到策略验证，项目的核心不是预测单点价格，而是持续迭代交易假设。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856FB3-3FDA-4659-929D-412DC486D57A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650013-E169-44CC-994D-7E84FBB6937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01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87C4B-AB53-4D7F-96FD-A18D907A92E8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整体项目概览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71318-63FC-4A44-AB43-E3D3D3B5B5B4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88992A-BAB3-4A3F-8B7B-24A9CA1B70FA}"/>
              </a:ext>
            </a:extLst>
          </p:cNvPr>
          <p:cNvSpPr>
            <a:spLocks noGrp="1"/>
          </p:cNvSpPr>
          <p:nvPr/>
        </p:nvSpPr>
        <p:spPr>
          <a:xfrm>
            <a:off x="7572375" y="198120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5C2F3F-215E-42D9-A2D5-D0DDAB4A704A}"/>
              </a:ext>
            </a:extLst>
          </p:cNvPr>
          <p:cNvSpPr>
            <a:spLocks noGrp="1"/>
          </p:cNvSpPr>
          <p:nvPr/>
        </p:nvSpPr>
        <p:spPr>
          <a:xfrm>
            <a:off x="7572375" y="1981200"/>
            <a:ext cx="1238250" cy="47625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4F1710-F290-4CE2-BF1F-810873562540}"/>
              </a:ext>
            </a:extLst>
          </p:cNvPr>
          <p:cNvSpPr>
            <a:spLocks noGrp="1"/>
          </p:cNvSpPr>
          <p:nvPr/>
        </p:nvSpPr>
        <p:spPr>
          <a:xfrm>
            <a:off x="7715250" y="22288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25DD27-873C-4FAC-B1E3-9290C31C1830}"/>
              </a:ext>
            </a:extLst>
          </p:cNvPr>
          <p:cNvSpPr>
            <a:spLocks noGrp="1"/>
          </p:cNvSpPr>
          <p:nvPr/>
        </p:nvSpPr>
        <p:spPr>
          <a:xfrm>
            <a:off x="8696325" y="310515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CE426-1BE1-49E7-A402-B904EFBACE9D}"/>
              </a:ext>
            </a:extLst>
          </p:cNvPr>
          <p:cNvSpPr>
            <a:spLocks noGrp="1"/>
          </p:cNvSpPr>
          <p:nvPr/>
        </p:nvSpPr>
        <p:spPr>
          <a:xfrm>
            <a:off x="8696325" y="3105150"/>
            <a:ext cx="1238250" cy="47625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A882A5-06F4-4B90-8C94-49AE7231E692}"/>
              </a:ext>
            </a:extLst>
          </p:cNvPr>
          <p:cNvSpPr>
            <a:spLocks noGrp="1"/>
          </p:cNvSpPr>
          <p:nvPr/>
        </p:nvSpPr>
        <p:spPr>
          <a:xfrm>
            <a:off x="8839200" y="3352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Indicators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F33E51-62E9-4212-8EE1-F4E41F1C6BA1}"/>
              </a:ext>
            </a:extLst>
          </p:cNvPr>
          <p:cNvSpPr>
            <a:spLocks noGrp="1"/>
          </p:cNvSpPr>
          <p:nvPr/>
        </p:nvSpPr>
        <p:spPr>
          <a:xfrm>
            <a:off x="7572375" y="422910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C33838-3990-44B7-BCBC-22E48C2C00A7}"/>
              </a:ext>
            </a:extLst>
          </p:cNvPr>
          <p:cNvSpPr>
            <a:spLocks noGrp="1"/>
          </p:cNvSpPr>
          <p:nvPr/>
        </p:nvSpPr>
        <p:spPr>
          <a:xfrm>
            <a:off x="7572375" y="4229100"/>
            <a:ext cx="1238250" cy="4762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FDA045-6128-4A17-B29C-EC5279950AC1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287287-4E4A-47CD-80F7-6A47AF4CE094}"/>
              </a:ext>
            </a:extLst>
          </p:cNvPr>
          <p:cNvSpPr>
            <a:spLocks noGrp="1"/>
          </p:cNvSpPr>
          <p:nvPr/>
        </p:nvSpPr>
        <p:spPr>
          <a:xfrm>
            <a:off x="6448425" y="3105150"/>
            <a:ext cx="1238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394F4E-86DA-41DE-B10C-666C89756F0C}"/>
              </a:ext>
            </a:extLst>
          </p:cNvPr>
          <p:cNvSpPr>
            <a:spLocks noGrp="1"/>
          </p:cNvSpPr>
          <p:nvPr/>
        </p:nvSpPr>
        <p:spPr>
          <a:xfrm>
            <a:off x="6448425" y="3105150"/>
            <a:ext cx="1238250" cy="47625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6E0BB6-1AA4-4AC2-801F-513D1454B70B}"/>
              </a:ext>
            </a:extLst>
          </p:cNvPr>
          <p:cNvSpPr>
            <a:spLocks noGrp="1"/>
          </p:cNvSpPr>
          <p:nvPr/>
        </p:nvSpPr>
        <p:spPr>
          <a:xfrm>
            <a:off x="6591300" y="33528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Backtest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3F6EC4F9-BE30-4086-B5C9-0081EF9CB40B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1502084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176B5F"/>
            </a:solidFill>
          </a:ln>
        </p:spPr>
        <p:txBody>
          <a:bodyPr/>
          <a:p/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AF07CAA6-21AA-421C-B738-664970661147}"/>
              </a:ext>
            </a:extLst>
          </p:cNvPr>
          <p:cNvSpPr>
            <a:spLocks noGrp="1"/>
          </p:cNvSpPr>
          <p:nvPr/>
        </p:nvSpPr>
        <p:spPr>
          <a:xfrm>
            <a:off x="9239250" y="3429000"/>
            <a:ext cx="1529615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315F72"/>
            </a:solidFill>
          </a:ln>
        </p:spPr>
        <p:txBody>
          <a:bodyPr/>
          <a:p/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AA96C0EA-3E7D-4DB9-A541-64344CD260F6}"/>
              </a:ext>
            </a:extLst>
          </p:cNvPr>
          <p:cNvSpPr>
            <a:spLocks noGrp="1"/>
          </p:cNvSpPr>
          <p:nvPr/>
        </p:nvSpPr>
        <p:spPr>
          <a:xfrm>
            <a:off x="8191500" y="4514850"/>
            <a:ext cx="1555961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B7791F"/>
            </a:solidFill>
          </a:ln>
        </p:spPr>
        <p:txBody>
          <a:bodyPr/>
          <a:p/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0E655C8C-889A-475C-A0D2-543E52431D90}"/>
              </a:ext>
            </a:extLst>
          </p:cNvPr>
          <p:cNvSpPr>
            <a:spLocks noGrp="1"/>
          </p:cNvSpPr>
          <p:nvPr/>
        </p:nvSpPr>
        <p:spPr>
          <a:xfrm>
            <a:off x="7105650" y="3429000"/>
            <a:ext cx="1522213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9A4F3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DA626F-382A-4CB9-A217-473B533594D7}"/>
              </a:ext>
            </a:extLst>
          </p:cNvPr>
          <p:cNvSpPr>
            <a:spLocks noGrp="1"/>
          </p:cNvSpPr>
          <p:nvPr/>
        </p:nvSpPr>
        <p:spPr>
          <a:xfrm>
            <a:off x="1047750" y="4810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F8E3B7-9EE1-43DF-A890-1649203A59E9}"/>
              </a:ext>
            </a:extLst>
          </p:cNvPr>
          <p:cNvSpPr>
            <a:spLocks noGrp="1"/>
          </p:cNvSpPr>
          <p:nvPr/>
        </p:nvSpPr>
        <p:spPr>
          <a:xfrm>
            <a:off x="1047750" y="52387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主要工作流：数据、指标、AI、回测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6017E1-C73E-41EB-83C7-0F3057611BE8}"/>
              </a:ext>
            </a:extLst>
          </p:cNvPr>
          <p:cNvSpPr>
            <a:spLocks noGrp="1"/>
          </p:cNvSpPr>
          <p:nvPr/>
        </p:nvSpPr>
        <p:spPr>
          <a:xfrm>
            <a:off x="3048000" y="4810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35FD2D-97EB-4274-B380-FA96E0F51BEB}"/>
              </a:ext>
            </a:extLst>
          </p:cNvPr>
          <p:cNvSpPr>
            <a:spLocks noGrp="1"/>
          </p:cNvSpPr>
          <p:nvPr/>
        </p:nvSpPr>
        <p:spPr>
          <a:xfrm>
            <a:off x="3048000" y="52387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统一研究闭环，而不是分散脚本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4B3B46-16C6-4DC1-857D-004649D6DA29}"/>
              </a:ext>
            </a:extLst>
          </p:cNvPr>
          <p:cNvSpPr>
            <a:spLocks noGrp="1"/>
          </p:cNvSpPr>
          <p:nvPr/>
        </p:nvSpPr>
        <p:spPr>
          <a:xfrm>
            <a:off x="5191125" y="4810125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315F7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315F72"/>
                </a:solidFill>
                <a:latin typeface="PingFang SC"/>
                <a:ea typeface="PingFang SC"/>
                <a:cs typeface="PingFang SC"/>
              </a:rPr>
              <a:t>Daily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A716DD-B152-4BB5-99DB-0B80E00F9C77}"/>
              </a:ext>
            </a:extLst>
          </p:cNvPr>
          <p:cNvSpPr>
            <a:spLocks noGrp="1"/>
          </p:cNvSpPr>
          <p:nvPr/>
        </p:nvSpPr>
        <p:spPr>
          <a:xfrm>
            <a:off x="5191125" y="52387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OptionSynth 第一阶段使用日级粒度</a:t>
            </a:r>
          </a:p>
        </p:txBody>
      </p:sp>
    </p:spTree>
    <p:extLst>
      <p:ext uri="{BB962C8B-B14F-4D97-AF65-F5344CB8AC3E}">
        <p14:creationId xmlns:p14="http://schemas.microsoft.com/office/powerpoint/2010/main" val="1078419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C5F62BE-B037-46FF-BF1D-7F5D5652C1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1BACFA3A-E84A-4560-83F1-36A7043CB0FA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SYSTEM SHAPE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DFC84B69-E436-4A28-AA87-4F9692D318E5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3266E8-706B-43C4-8FC7-E4D79EF0712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现有系统已经具备扩展期权研究的基础设施。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E6BBB-BA19-46EE-AF35-C60DC9386BFB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后端 API、Neon/本地数据、Web UI、Moomoo 实时接口和回测表结构都已经存在；OptionSynth 是在这个工作流上的增量模块。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2630F6-8E9D-48FC-BC67-3156B811BA7E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121437-1364-4A98-BA5D-F3A787F6E24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02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FFB4F2-92E0-4296-829C-FB0D6A7B2F9B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模块边界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7F50FD-6CB0-4741-91E7-918606B0C9BA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A40495-7126-4728-AF09-5E2097D43D44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7D97B9-3FC1-49B9-AD07-D1B4E83A273E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47625" cy="106680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59D0A7-2A86-45F1-B0AA-56C7A2156016}"/>
              </a:ext>
            </a:extLst>
          </p:cNvPr>
          <p:cNvSpPr>
            <a:spLocks noGrp="1"/>
          </p:cNvSpPr>
          <p:nvPr/>
        </p:nvSpPr>
        <p:spPr>
          <a:xfrm>
            <a:off x="10477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数据管道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1F0D3D-18C9-47EA-8068-D8195E816590}"/>
              </a:ext>
            </a:extLst>
          </p:cNvPr>
          <p:cNvSpPr>
            <a:spLocks noGrp="1"/>
          </p:cNvSpPr>
          <p:nvPr/>
        </p:nvSpPr>
        <p:spPr>
          <a:xfrm>
            <a:off x="10477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历史 K 线、盘后更新、本地/Neon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2BB57F7-8A94-419A-A2DC-A4CBB0573D6E}"/>
              </a:ext>
            </a:extLst>
          </p:cNvPr>
          <p:cNvSpPr>
            <a:spLocks noGrp="1"/>
          </p:cNvSpPr>
          <p:nvPr/>
        </p:nvSpPr>
        <p:spPr>
          <a:xfrm>
            <a:off x="26193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B31209-BEFE-493B-967A-2217E2F6E8C8}"/>
              </a:ext>
            </a:extLst>
          </p:cNvPr>
          <p:cNvSpPr>
            <a:spLocks noGrp="1"/>
          </p:cNvSpPr>
          <p:nvPr/>
        </p:nvSpPr>
        <p:spPr>
          <a:xfrm>
            <a:off x="29718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711F3-06B5-43FC-9F9B-EA604F3DB5BC}"/>
              </a:ext>
            </a:extLst>
          </p:cNvPr>
          <p:cNvSpPr>
            <a:spLocks noGrp="1"/>
          </p:cNvSpPr>
          <p:nvPr/>
        </p:nvSpPr>
        <p:spPr>
          <a:xfrm>
            <a:off x="2971800" y="3333750"/>
            <a:ext cx="47625" cy="106680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CCBDBD-9F9E-4534-81B1-75EFBB6DFF82}"/>
              </a:ext>
            </a:extLst>
          </p:cNvPr>
          <p:cNvSpPr>
            <a:spLocks noGrp="1"/>
          </p:cNvSpPr>
          <p:nvPr/>
        </p:nvSpPr>
        <p:spPr>
          <a:xfrm>
            <a:off x="31432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后端 API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42519D-ADF3-491B-A777-35434D56D33A}"/>
              </a:ext>
            </a:extLst>
          </p:cNvPr>
          <p:cNvSpPr>
            <a:spLocks noGrp="1"/>
          </p:cNvSpPr>
          <p:nvPr/>
        </p:nvSpPr>
        <p:spPr>
          <a:xfrm>
            <a:off x="31432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FastAPI、认证、策略与期权路由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C1BB674-AAA9-4EC0-9057-70C92760B549}"/>
              </a:ext>
            </a:extLst>
          </p:cNvPr>
          <p:cNvSpPr>
            <a:spLocks noGrp="1"/>
          </p:cNvSpPr>
          <p:nvPr/>
        </p:nvSpPr>
        <p:spPr>
          <a:xfrm>
            <a:off x="47148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F5ABCC-6708-46CD-B68A-4669FEC5B965}"/>
              </a:ext>
            </a:extLst>
          </p:cNvPr>
          <p:cNvSpPr>
            <a:spLocks noGrp="1"/>
          </p:cNvSpPr>
          <p:nvPr/>
        </p:nvSpPr>
        <p:spPr>
          <a:xfrm>
            <a:off x="50673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2F3DB0-CDBC-4E73-AFC3-775B61E01A5D}"/>
              </a:ext>
            </a:extLst>
          </p:cNvPr>
          <p:cNvSpPr>
            <a:spLocks noGrp="1"/>
          </p:cNvSpPr>
          <p:nvPr/>
        </p:nvSpPr>
        <p:spPr>
          <a:xfrm>
            <a:off x="5067300" y="3333750"/>
            <a:ext cx="47625" cy="10668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EC3DC2-8400-4885-96BB-FB2BFEEABE89}"/>
              </a:ext>
            </a:extLst>
          </p:cNvPr>
          <p:cNvSpPr>
            <a:spLocks noGrp="1"/>
          </p:cNvSpPr>
          <p:nvPr/>
        </p:nvSpPr>
        <p:spPr>
          <a:xfrm>
            <a:off x="52387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分析层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3D13F8-8397-4C62-A950-EC2EEB5680AC}"/>
              </a:ext>
            </a:extLst>
          </p:cNvPr>
          <p:cNvSpPr>
            <a:spLocks noGrp="1"/>
          </p:cNvSpPr>
          <p:nvPr/>
        </p:nvSpPr>
        <p:spPr>
          <a:xfrm>
            <a:off x="52387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RSI/MACD/HV 与 AI 报告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CB8EFA0F-9BF6-4CEE-9FA1-65E3DAF67485}"/>
              </a:ext>
            </a:extLst>
          </p:cNvPr>
          <p:cNvSpPr>
            <a:spLocks noGrp="1"/>
          </p:cNvSpPr>
          <p:nvPr/>
        </p:nvSpPr>
        <p:spPr>
          <a:xfrm>
            <a:off x="68103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E9BE62-0F46-4087-B1BB-4EAA0FEA06B4}"/>
              </a:ext>
            </a:extLst>
          </p:cNvPr>
          <p:cNvSpPr>
            <a:spLocks noGrp="1"/>
          </p:cNvSpPr>
          <p:nvPr/>
        </p:nvSpPr>
        <p:spPr>
          <a:xfrm>
            <a:off x="71628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23D5D5-ACC5-490F-BF06-12C1604B6C29}"/>
              </a:ext>
            </a:extLst>
          </p:cNvPr>
          <p:cNvSpPr>
            <a:spLocks noGrp="1"/>
          </p:cNvSpPr>
          <p:nvPr/>
        </p:nvSpPr>
        <p:spPr>
          <a:xfrm>
            <a:off x="7162800" y="3333750"/>
            <a:ext cx="47625" cy="106680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60EA66-5CEB-483A-A394-089DAB8AA639}"/>
              </a:ext>
            </a:extLst>
          </p:cNvPr>
          <p:cNvSpPr>
            <a:spLocks noGrp="1"/>
          </p:cNvSpPr>
          <p:nvPr/>
        </p:nvSpPr>
        <p:spPr>
          <a:xfrm>
            <a:off x="73342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前端 UI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9984EE-2A54-447A-A08D-7E9EABBA69BC}"/>
              </a:ext>
            </a:extLst>
          </p:cNvPr>
          <p:cNvSpPr>
            <a:spLocks noGrp="1"/>
          </p:cNvSpPr>
          <p:nvPr/>
        </p:nvSpPr>
        <p:spPr>
          <a:xfrm>
            <a:off x="73342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行情图、策略参数、结果面板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E54C9E7A-DBD5-4A46-9339-38227C2A519C}"/>
              </a:ext>
            </a:extLst>
          </p:cNvPr>
          <p:cNvSpPr>
            <a:spLocks noGrp="1"/>
          </p:cNvSpPr>
          <p:nvPr/>
        </p:nvSpPr>
        <p:spPr>
          <a:xfrm>
            <a:off x="8905875" y="3867150"/>
            <a:ext cx="3048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3B92A9-A16E-4A44-93F9-6991EC3EF051}"/>
              </a:ext>
            </a:extLst>
          </p:cNvPr>
          <p:cNvSpPr>
            <a:spLocks noGrp="1"/>
          </p:cNvSpPr>
          <p:nvPr/>
        </p:nvSpPr>
        <p:spPr>
          <a:xfrm>
            <a:off x="9258300" y="33337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9DFCF5-7C62-4BBA-9FE1-5194B3632069}"/>
              </a:ext>
            </a:extLst>
          </p:cNvPr>
          <p:cNvSpPr>
            <a:spLocks noGrp="1"/>
          </p:cNvSpPr>
          <p:nvPr/>
        </p:nvSpPr>
        <p:spPr>
          <a:xfrm>
            <a:off x="9258300" y="3333750"/>
            <a:ext cx="47625" cy="106680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483A4D-D55E-4B4E-80C6-1ADA603FE7D4}"/>
              </a:ext>
            </a:extLst>
          </p:cNvPr>
          <p:cNvSpPr>
            <a:spLocks noGrp="1"/>
          </p:cNvSpPr>
          <p:nvPr/>
        </p:nvSpPr>
        <p:spPr>
          <a:xfrm>
            <a:off x="9429750" y="3486150"/>
            <a:ext cx="1390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回测存储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15F4CA-8147-46D1-9617-1AC7471EB2C7}"/>
              </a:ext>
            </a:extLst>
          </p:cNvPr>
          <p:cNvSpPr>
            <a:spLocks noGrp="1"/>
          </p:cNvSpPr>
          <p:nvPr/>
        </p:nvSpPr>
        <p:spPr>
          <a:xfrm>
            <a:off x="9429750" y="3743325"/>
            <a:ext cx="137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参数快照、交易记录、权益曲线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D781F6-D8B4-4627-995E-7B09850AD709}"/>
              </a:ext>
            </a:extLst>
          </p:cNvPr>
          <p:cNvSpPr>
            <a:spLocks noGrp="1"/>
          </p:cNvSpPr>
          <p:nvPr/>
        </p:nvSpPr>
        <p:spPr>
          <a:xfrm>
            <a:off x="4095750" y="4810125"/>
            <a:ext cx="4238625" cy="266700"/>
          </a:xfrm>
          <a:prstGeom prst="rect">
            <a:avLst/>
          </a:prstGeom>
          <a:solidFill>
            <a:srgbClr val="111C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D77249-0CF2-4916-85BD-A48C5687E321}"/>
              </a:ext>
            </a:extLst>
          </p:cNvPr>
          <p:cNvSpPr>
            <a:spLocks noGrp="1"/>
          </p:cNvSpPr>
          <p:nvPr/>
        </p:nvSpPr>
        <p:spPr>
          <a:xfrm>
            <a:off x="4210050" y="4867275"/>
            <a:ext cx="40100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OptionSynth 插入点：复用日线数据与回测框架</a:t>
            </a:r>
          </a:p>
        </p:txBody>
      </p:sp>
    </p:spTree>
    <p:extLst>
      <p:ext uri="{BB962C8B-B14F-4D97-AF65-F5344CB8AC3E}">
        <p14:creationId xmlns:p14="http://schemas.microsoft.com/office/powerpoint/2010/main" val="2157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E4CF207-77E3-4ED2-8A87-385CBC9B42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D9764C0E-32B1-496C-9559-2CAFB863DF8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DATA GAP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50AC15D-EB86-4DD6-A328-0BC7DD022BE9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43EB2E-1C37-4E03-B552-F69FEFD7E54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期权策略回测的难点首先是链数据，而不是策略写法。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847487-5604-4F69-BF83-1301F5DCE03C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完整历史期权链费用高、体量大，不适合当前阶段全量存储。BRstock 现在用 Schwab 实时期权链快照做抽样校准，同时保留模拟链的可回放研究能力。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E8D110-19F2-4623-9216-8E8BAA2ED931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719C1-58FD-4CC3-BBD2-8C2B3C81340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03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E5DA26-3FB4-436B-A1D2-FA8199D5D74F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问题定义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68AA-FB19-471B-A225-4359053E6DE7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6E9047-E933-4D32-B0AF-D388AEB7A7E0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9429750" cy="323850"/>
          </a:xfrm>
          <a:prstGeom prst="rect">
            <a:avLst/>
          </a:prstGeom>
          <a:solidFill>
            <a:srgbClr val="111C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19F4A-0AF8-437C-B535-EF6081A3B96E}"/>
              </a:ext>
            </a:extLst>
          </p:cNvPr>
          <p:cNvSpPr>
            <a:spLocks noGrp="1"/>
          </p:cNvSpPr>
          <p:nvPr/>
        </p:nvSpPr>
        <p:spPr>
          <a:xfrm>
            <a:off x="1333500" y="2943225"/>
            <a:ext cx="278892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约束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BA8574-649D-44CE-A54D-4406BAC08CCC}"/>
              </a:ext>
            </a:extLst>
          </p:cNvPr>
          <p:cNvSpPr>
            <a:spLocks noGrp="1"/>
          </p:cNvSpPr>
          <p:nvPr/>
        </p:nvSpPr>
        <p:spPr>
          <a:xfrm>
            <a:off x="4351020" y="2943225"/>
            <a:ext cx="297751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直接影响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21C227-2894-46C9-86DE-9A1726EB72F4}"/>
              </a:ext>
            </a:extLst>
          </p:cNvPr>
          <p:cNvSpPr>
            <a:spLocks noGrp="1"/>
          </p:cNvSpPr>
          <p:nvPr/>
        </p:nvSpPr>
        <p:spPr>
          <a:xfrm>
            <a:off x="7557135" y="2943225"/>
            <a:ext cx="297751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设计回应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C23C10-1F6D-46DA-87B8-D7E39983F260}"/>
              </a:ext>
            </a:extLst>
          </p:cNvPr>
          <p:cNvSpPr>
            <a:spLocks noGrp="1"/>
          </p:cNvSpPr>
          <p:nvPr/>
        </p:nvSpPr>
        <p:spPr>
          <a:xfrm>
            <a:off x="1219200" y="3181350"/>
            <a:ext cx="9429750" cy="666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DE7680-DB41-418C-AADA-7FB4E1205C46}"/>
              </a:ext>
            </a:extLst>
          </p:cNvPr>
          <p:cNvSpPr>
            <a:spLocks noGrp="1"/>
          </p:cNvSpPr>
          <p:nvPr/>
        </p:nvSpPr>
        <p:spPr>
          <a:xfrm>
            <a:off x="4236720" y="31813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F38E65-33CC-41D6-A2A0-C0E89594EB5B}"/>
              </a:ext>
            </a:extLst>
          </p:cNvPr>
          <p:cNvSpPr>
            <a:spLocks noGrp="1"/>
          </p:cNvSpPr>
          <p:nvPr/>
        </p:nvSpPr>
        <p:spPr>
          <a:xfrm>
            <a:off x="7442835" y="31813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2902C7-F175-4F06-99C6-15EE728FD3DF}"/>
              </a:ext>
            </a:extLst>
          </p:cNvPr>
          <p:cNvSpPr>
            <a:spLocks noGrp="1"/>
          </p:cNvSpPr>
          <p:nvPr/>
        </p:nvSpPr>
        <p:spPr>
          <a:xfrm>
            <a:off x="1333500" y="335280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历史链昂贵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7E5998-0261-4B86-BCE0-1692A6592271}"/>
              </a:ext>
            </a:extLst>
          </p:cNvPr>
          <p:cNvSpPr>
            <a:spLocks noGrp="1"/>
          </p:cNvSpPr>
          <p:nvPr/>
        </p:nvSpPr>
        <p:spPr>
          <a:xfrm>
            <a:off x="4351020" y="33528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难覆盖多年、多标的、多 DTE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6F3E04-76A6-4DA2-B571-4F0B35641A08}"/>
              </a:ext>
            </a:extLst>
          </p:cNvPr>
          <p:cNvSpPr>
            <a:spLocks noGrp="1"/>
          </p:cNvSpPr>
          <p:nvPr/>
        </p:nvSpPr>
        <p:spPr>
          <a:xfrm>
            <a:off x="7557135" y="33528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先用模拟链支撑策略研究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0950D1-17C5-4DD1-8D47-D70AE4F66A50}"/>
              </a:ext>
            </a:extLst>
          </p:cNvPr>
          <p:cNvSpPr>
            <a:spLocks noGrp="1"/>
          </p:cNvSpPr>
          <p:nvPr/>
        </p:nvSpPr>
        <p:spPr>
          <a:xfrm>
            <a:off x="1219200" y="3848100"/>
            <a:ext cx="9429750" cy="666750"/>
          </a:xfrm>
          <a:prstGeom prst="rect">
            <a:avLst/>
          </a:prstGeom>
          <a:solidFill>
            <a:srgbClr val="FB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42FC15-FCAD-4B21-BC1D-6CF40E8F6080}"/>
              </a:ext>
            </a:extLst>
          </p:cNvPr>
          <p:cNvSpPr>
            <a:spLocks noGrp="1"/>
          </p:cNvSpPr>
          <p:nvPr/>
        </p:nvSpPr>
        <p:spPr>
          <a:xfrm>
            <a:off x="4236720" y="38481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7C5F33-0A21-418B-B2F7-92E6D5FC593D}"/>
              </a:ext>
            </a:extLst>
          </p:cNvPr>
          <p:cNvSpPr>
            <a:spLocks noGrp="1"/>
          </p:cNvSpPr>
          <p:nvPr/>
        </p:nvSpPr>
        <p:spPr>
          <a:xfrm>
            <a:off x="7442835" y="38481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686D88-67D8-4182-92F6-33FF2447259C}"/>
              </a:ext>
            </a:extLst>
          </p:cNvPr>
          <p:cNvSpPr>
            <a:spLocks noGrp="1"/>
          </p:cNvSpPr>
          <p:nvPr/>
        </p:nvSpPr>
        <p:spPr>
          <a:xfrm>
            <a:off x="1333500" y="401955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数据量巨大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222DFB-C5F4-40AB-A182-E77940A92273}"/>
              </a:ext>
            </a:extLst>
          </p:cNvPr>
          <p:cNvSpPr>
            <a:spLocks noGrp="1"/>
          </p:cNvSpPr>
          <p:nvPr/>
        </p:nvSpPr>
        <p:spPr>
          <a:xfrm>
            <a:off x="4351020" y="40195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完整链存储膨胀很快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580AAA-1A20-4273-98D2-F539E6787BD1}"/>
              </a:ext>
            </a:extLst>
          </p:cNvPr>
          <p:cNvSpPr>
            <a:spLocks noGrp="1"/>
          </p:cNvSpPr>
          <p:nvPr/>
        </p:nvSpPr>
        <p:spPr>
          <a:xfrm>
            <a:off x="7557135" y="40195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按需生成，不落全量链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7BF95B-3D62-487D-B44C-C63A0F79CD18}"/>
              </a:ext>
            </a:extLst>
          </p:cNvPr>
          <p:cNvSpPr>
            <a:spLocks noGrp="1"/>
          </p:cNvSpPr>
          <p:nvPr/>
        </p:nvSpPr>
        <p:spPr>
          <a:xfrm>
            <a:off x="1219200" y="4514850"/>
            <a:ext cx="9429750" cy="6667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70E14E-7C9C-4206-B4B0-D413F67233C3}"/>
              </a:ext>
            </a:extLst>
          </p:cNvPr>
          <p:cNvSpPr>
            <a:spLocks noGrp="1"/>
          </p:cNvSpPr>
          <p:nvPr/>
        </p:nvSpPr>
        <p:spPr>
          <a:xfrm>
            <a:off x="4236720" y="45148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AB253F-BC9D-492F-A1DF-D64CE5389680}"/>
              </a:ext>
            </a:extLst>
          </p:cNvPr>
          <p:cNvSpPr>
            <a:spLocks noGrp="1"/>
          </p:cNvSpPr>
          <p:nvPr/>
        </p:nvSpPr>
        <p:spPr>
          <a:xfrm>
            <a:off x="7442835" y="451485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5F3C48-228D-4356-B99B-68DC903A7EBD}"/>
              </a:ext>
            </a:extLst>
          </p:cNvPr>
          <p:cNvSpPr>
            <a:spLocks noGrp="1"/>
          </p:cNvSpPr>
          <p:nvPr/>
        </p:nvSpPr>
        <p:spPr>
          <a:xfrm>
            <a:off x="1333500" y="468630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实时接口不稳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48307D-F234-481E-9BBC-3F250FA02ED3}"/>
              </a:ext>
            </a:extLst>
          </p:cNvPr>
          <p:cNvSpPr>
            <a:spLocks noGrp="1"/>
          </p:cNvSpPr>
          <p:nvPr/>
        </p:nvSpPr>
        <p:spPr>
          <a:xfrm>
            <a:off x="4351020" y="46863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SMS/连接影响连续采集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1668C3-E296-47BE-B723-EC13F3F76CA0}"/>
              </a:ext>
            </a:extLst>
          </p:cNvPr>
          <p:cNvSpPr>
            <a:spLocks noGrp="1"/>
          </p:cNvSpPr>
          <p:nvPr/>
        </p:nvSpPr>
        <p:spPr>
          <a:xfrm>
            <a:off x="7557135" y="468630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保留 Moomoo，但不依赖它回测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DD72CF-236E-493F-B31C-540194C06911}"/>
              </a:ext>
            </a:extLst>
          </p:cNvPr>
          <p:cNvSpPr>
            <a:spLocks noGrp="1"/>
          </p:cNvSpPr>
          <p:nvPr/>
        </p:nvSpPr>
        <p:spPr>
          <a:xfrm>
            <a:off x="1219200" y="5181600"/>
            <a:ext cx="9429750" cy="666750"/>
          </a:xfrm>
          <a:prstGeom prst="rect">
            <a:avLst/>
          </a:prstGeom>
          <a:solidFill>
            <a:srgbClr val="FBF8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2553AA-FED3-4FD6-9049-097029B9AB5F}"/>
              </a:ext>
            </a:extLst>
          </p:cNvPr>
          <p:cNvSpPr>
            <a:spLocks noGrp="1"/>
          </p:cNvSpPr>
          <p:nvPr/>
        </p:nvSpPr>
        <p:spPr>
          <a:xfrm>
            <a:off x="4236720" y="51816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AC65F0-3EC1-4A14-A814-434A9376C3A8}"/>
              </a:ext>
            </a:extLst>
          </p:cNvPr>
          <p:cNvSpPr>
            <a:spLocks noGrp="1"/>
          </p:cNvSpPr>
          <p:nvPr/>
        </p:nvSpPr>
        <p:spPr>
          <a:xfrm>
            <a:off x="7442835" y="5181600"/>
            <a:ext cx="9525" cy="666750"/>
          </a:xfrm>
          <a:prstGeom prst="rect">
            <a:avLst/>
          </a:prstGeom>
          <a:solidFill>
            <a:srgbClr val="E6DE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D054C5-0BC8-4ECD-90B8-D44FE1D38434}"/>
              </a:ext>
            </a:extLst>
          </p:cNvPr>
          <p:cNvSpPr>
            <a:spLocks noGrp="1"/>
          </p:cNvSpPr>
          <p:nvPr/>
        </p:nvSpPr>
        <p:spPr>
          <a:xfrm>
            <a:off x="1333500" y="5353050"/>
            <a:ext cx="278892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策略需要长周期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774B8A-21BC-4958-8722-F14383DCE0BF}"/>
              </a:ext>
            </a:extLst>
          </p:cNvPr>
          <p:cNvSpPr>
            <a:spLocks noGrp="1"/>
          </p:cNvSpPr>
          <p:nvPr/>
        </p:nvSpPr>
        <p:spPr>
          <a:xfrm>
            <a:off x="4351020" y="53530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WHEELS/LEAPS 依赖跨月状态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B0F8C2-A742-46DC-A8EB-7E979A4A4476}"/>
              </a:ext>
            </a:extLst>
          </p:cNvPr>
          <p:cNvSpPr>
            <a:spLocks noGrp="1"/>
          </p:cNvSpPr>
          <p:nvPr/>
        </p:nvSpPr>
        <p:spPr>
          <a:xfrm>
            <a:off x="7557135" y="5353050"/>
            <a:ext cx="29775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日级事件回放 + 状态机</a:t>
            </a:r>
          </a:p>
        </p:txBody>
      </p:sp>
    </p:spTree>
    <p:extLst>
      <p:ext uri="{BB962C8B-B14F-4D97-AF65-F5344CB8AC3E}">
        <p14:creationId xmlns:p14="http://schemas.microsoft.com/office/powerpoint/2010/main" val="40085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217A98B-F85C-4387-A6C0-3B7E217DAB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5B69B29E-FD9A-49C3-B4EA-360DF28147CF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SYNTHESIS PIPELINE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1E2CAEAC-29A8-41E9-8A0A-E71B9713E9D9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AEE9D6-D482-4767-A1D2-41029C89CEA5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OptionSynth 用日线股票数据生成可解释的模拟期权链。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04F78-694A-4F56-B28E-2AA454D739F7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用历史波动率、RSI 情绪映射、moneyness skew、Black-Scholes 定价和 Schwab 校准 bucket，按行权价与到期日实时生成 call/put、bid/ask 与 Greeks。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D9B60-A213-45FB-AAE6-387ED810DF50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12D19-3477-400A-8D88-E201863969B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04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DC2CC-3D8A-4F20-8E2C-E17CADA91099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核心生成流程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57A558-D20A-45C9-90CA-E0D2C9A431FD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522377-EE93-4860-92D2-591BA139955D}"/>
              </a:ext>
            </a:extLst>
          </p:cNvPr>
          <p:cNvSpPr>
            <a:spLocks noGrp="1"/>
          </p:cNvSpPr>
          <p:nvPr/>
        </p:nvSpPr>
        <p:spPr>
          <a:xfrm>
            <a:off x="8382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3E058D-B251-4BA6-98DE-39945DCC65C9}"/>
              </a:ext>
            </a:extLst>
          </p:cNvPr>
          <p:cNvSpPr>
            <a:spLocks noGrp="1"/>
          </p:cNvSpPr>
          <p:nvPr/>
        </p:nvSpPr>
        <p:spPr>
          <a:xfrm>
            <a:off x="838200" y="3286125"/>
            <a:ext cx="47625" cy="8572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B23A8A-425B-4AA5-ADA7-99E1919FA709}"/>
              </a:ext>
            </a:extLst>
          </p:cNvPr>
          <p:cNvSpPr>
            <a:spLocks noGrp="1"/>
          </p:cNvSpPr>
          <p:nvPr/>
        </p:nvSpPr>
        <p:spPr>
          <a:xfrm>
            <a:off x="10096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日线 OHLCV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39D2F-2CF4-4BFB-BDDA-8AB04F112E79}"/>
              </a:ext>
            </a:extLst>
          </p:cNvPr>
          <p:cNvSpPr>
            <a:spLocks noGrp="1"/>
          </p:cNvSpPr>
          <p:nvPr/>
        </p:nvSpPr>
        <p:spPr>
          <a:xfrm>
            <a:off x="10096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spot, returns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4B03C2F-07E1-46A9-89EC-4C016A6EE5D7}"/>
              </a:ext>
            </a:extLst>
          </p:cNvPr>
          <p:cNvSpPr>
            <a:spLocks noGrp="1"/>
          </p:cNvSpPr>
          <p:nvPr/>
        </p:nvSpPr>
        <p:spPr>
          <a:xfrm>
            <a:off x="24955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3838C9-2F39-420E-9E1F-365BFE97E79B}"/>
              </a:ext>
            </a:extLst>
          </p:cNvPr>
          <p:cNvSpPr>
            <a:spLocks noGrp="1"/>
          </p:cNvSpPr>
          <p:nvPr/>
        </p:nvSpPr>
        <p:spPr>
          <a:xfrm>
            <a:off x="28956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0E0CE2-E1F4-4E8C-883C-2BA43FD6F766}"/>
              </a:ext>
            </a:extLst>
          </p:cNvPr>
          <p:cNvSpPr>
            <a:spLocks noGrp="1"/>
          </p:cNvSpPr>
          <p:nvPr/>
        </p:nvSpPr>
        <p:spPr>
          <a:xfrm>
            <a:off x="2895600" y="3286125"/>
            <a:ext cx="47625" cy="85725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71C1B9-458B-463C-A1C3-AC80915F78D5}"/>
              </a:ext>
            </a:extLst>
          </p:cNvPr>
          <p:cNvSpPr>
            <a:spLocks noGrp="1"/>
          </p:cNvSpPr>
          <p:nvPr/>
        </p:nvSpPr>
        <p:spPr>
          <a:xfrm>
            <a:off x="30670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指标计算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B19500-C91B-426F-B445-1EC3B86F4DA7}"/>
              </a:ext>
            </a:extLst>
          </p:cNvPr>
          <p:cNvSpPr>
            <a:spLocks noGrp="1"/>
          </p:cNvSpPr>
          <p:nvPr/>
        </p:nvSpPr>
        <p:spPr>
          <a:xfrm>
            <a:off x="30670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RSI + 20d HV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CE03FBC-B162-4F2A-A997-A83E043B4260}"/>
              </a:ext>
            </a:extLst>
          </p:cNvPr>
          <p:cNvSpPr>
            <a:spLocks noGrp="1"/>
          </p:cNvSpPr>
          <p:nvPr/>
        </p:nvSpPr>
        <p:spPr>
          <a:xfrm>
            <a:off x="45529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B8D6FF-3957-49AF-B405-EFB3DE5BADFF}"/>
              </a:ext>
            </a:extLst>
          </p:cNvPr>
          <p:cNvSpPr>
            <a:spLocks noGrp="1"/>
          </p:cNvSpPr>
          <p:nvPr/>
        </p:nvSpPr>
        <p:spPr>
          <a:xfrm>
            <a:off x="49530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841551-C97E-484A-8E1F-2B7B2E27BEE7}"/>
              </a:ext>
            </a:extLst>
          </p:cNvPr>
          <p:cNvSpPr>
            <a:spLocks noGrp="1"/>
          </p:cNvSpPr>
          <p:nvPr/>
        </p:nvSpPr>
        <p:spPr>
          <a:xfrm>
            <a:off x="4953000" y="3286125"/>
            <a:ext cx="47625" cy="8572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CCD59A-610D-40EF-BA07-993E6A670392}"/>
              </a:ext>
            </a:extLst>
          </p:cNvPr>
          <p:cNvSpPr>
            <a:spLocks noGrp="1"/>
          </p:cNvSpPr>
          <p:nvPr/>
        </p:nvSpPr>
        <p:spPr>
          <a:xfrm>
            <a:off x="51244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Synthetic IV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56DFEB-FA8D-409B-A5C3-4EF59B3D343A}"/>
              </a:ext>
            </a:extLst>
          </p:cNvPr>
          <p:cNvSpPr>
            <a:spLocks noGrp="1"/>
          </p:cNvSpPr>
          <p:nvPr/>
        </p:nvSpPr>
        <p:spPr>
          <a:xfrm>
            <a:off x="51244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sentiment × skew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52EC9F1-59C3-4A86-8A75-A6CFA0E1453D}"/>
              </a:ext>
            </a:extLst>
          </p:cNvPr>
          <p:cNvSpPr>
            <a:spLocks noGrp="1"/>
          </p:cNvSpPr>
          <p:nvPr/>
        </p:nvSpPr>
        <p:spPr>
          <a:xfrm>
            <a:off x="66103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49B8F0-22F2-4BF0-B22D-28BB418950DA}"/>
              </a:ext>
            </a:extLst>
          </p:cNvPr>
          <p:cNvSpPr>
            <a:spLocks noGrp="1"/>
          </p:cNvSpPr>
          <p:nvPr/>
        </p:nvSpPr>
        <p:spPr>
          <a:xfrm>
            <a:off x="70104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0DF06-F28A-46F3-8A34-11341BC5C441}"/>
              </a:ext>
            </a:extLst>
          </p:cNvPr>
          <p:cNvSpPr>
            <a:spLocks noGrp="1"/>
          </p:cNvSpPr>
          <p:nvPr/>
        </p:nvSpPr>
        <p:spPr>
          <a:xfrm>
            <a:off x="7010400" y="3286125"/>
            <a:ext cx="47625" cy="8572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1A9B12-F7D6-4846-9C9C-1FBB9B705608}"/>
              </a:ext>
            </a:extLst>
          </p:cNvPr>
          <p:cNvSpPr>
            <a:spLocks noGrp="1"/>
          </p:cNvSpPr>
          <p:nvPr/>
        </p:nvSpPr>
        <p:spPr>
          <a:xfrm>
            <a:off x="71818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B-S 定价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0A64F6-DDED-4C1F-BC6F-DCAC85767FD8}"/>
              </a:ext>
            </a:extLst>
          </p:cNvPr>
          <p:cNvSpPr>
            <a:spLocks noGrp="1"/>
          </p:cNvSpPr>
          <p:nvPr/>
        </p:nvSpPr>
        <p:spPr>
          <a:xfrm>
            <a:off x="71818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premium + Greeks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9894C6D6-1641-4480-89F9-489C52FF26E9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3238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E7962E-B877-4184-8BFE-B94D16DD833D}"/>
              </a:ext>
            </a:extLst>
          </p:cNvPr>
          <p:cNvSpPr>
            <a:spLocks noGrp="1"/>
          </p:cNvSpPr>
          <p:nvPr/>
        </p:nvSpPr>
        <p:spPr>
          <a:xfrm>
            <a:off x="9067800" y="3286125"/>
            <a:ext cx="1619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A05E75-3AB9-441A-8BD9-8BC0627B28BD}"/>
              </a:ext>
            </a:extLst>
          </p:cNvPr>
          <p:cNvSpPr>
            <a:spLocks noGrp="1"/>
          </p:cNvSpPr>
          <p:nvPr/>
        </p:nvSpPr>
        <p:spPr>
          <a:xfrm>
            <a:off x="9067800" y="3286125"/>
            <a:ext cx="47625" cy="8572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28B46B-A531-48FB-8A2E-6EE75829BAC0}"/>
              </a:ext>
            </a:extLst>
          </p:cNvPr>
          <p:cNvSpPr>
            <a:spLocks noGrp="1"/>
          </p:cNvSpPr>
          <p:nvPr/>
        </p:nvSpPr>
        <p:spPr>
          <a:xfrm>
            <a:off x="9239250" y="3438525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Option Chain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879557-43BE-4E37-B038-A5864DEB9C8F}"/>
              </a:ext>
            </a:extLst>
          </p:cNvPr>
          <p:cNvSpPr>
            <a:spLocks noGrp="1"/>
          </p:cNvSpPr>
          <p:nvPr/>
        </p:nvSpPr>
        <p:spPr>
          <a:xfrm>
            <a:off x="9239250" y="36957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strike × DTE × type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D7338E-CFB9-4810-BC2E-1B2A905E71D6}"/>
              </a:ext>
            </a:extLst>
          </p:cNvPr>
          <p:cNvSpPr>
            <a:spLocks noGrp="1"/>
          </p:cNvSpPr>
          <p:nvPr/>
        </p:nvSpPr>
        <p:spPr>
          <a:xfrm>
            <a:off x="2095500" y="4619625"/>
            <a:ext cx="781050" cy="438150"/>
          </a:xfrm>
          <a:prstGeom prst="rect">
            <a:avLst/>
          </a:prstGeom>
          <a:solidFill>
            <a:srgbClr val="FBF8F1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9D56CA0-D0E5-49DD-A580-EED8BCB391C8}"/>
              </a:ext>
            </a:extLst>
          </p:cNvPr>
          <p:cNvSpPr>
            <a:spLocks noGrp="1"/>
          </p:cNvSpPr>
          <p:nvPr/>
        </p:nvSpPr>
        <p:spPr>
          <a:xfrm>
            <a:off x="209550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30d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EEE7C4-6C8F-46E9-9E32-2F90F68F0798}"/>
              </a:ext>
            </a:extLst>
          </p:cNvPr>
          <p:cNvSpPr>
            <a:spLocks noGrp="1"/>
          </p:cNvSpPr>
          <p:nvPr/>
        </p:nvSpPr>
        <p:spPr>
          <a:xfrm>
            <a:off x="3257550" y="4619625"/>
            <a:ext cx="7810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C15531E-083F-4A46-BB01-025882CDAFB3}"/>
              </a:ext>
            </a:extLst>
          </p:cNvPr>
          <p:cNvSpPr>
            <a:spLocks noGrp="1"/>
          </p:cNvSpPr>
          <p:nvPr/>
        </p:nvSpPr>
        <p:spPr>
          <a:xfrm>
            <a:off x="325755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45d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86AE07-F93E-4765-AB2C-4E6AE38A4E21}"/>
              </a:ext>
            </a:extLst>
          </p:cNvPr>
          <p:cNvSpPr>
            <a:spLocks noGrp="1"/>
          </p:cNvSpPr>
          <p:nvPr/>
        </p:nvSpPr>
        <p:spPr>
          <a:xfrm>
            <a:off x="4419600" y="4619625"/>
            <a:ext cx="781050" cy="438150"/>
          </a:xfrm>
          <a:prstGeom prst="rect">
            <a:avLst/>
          </a:prstGeom>
          <a:solidFill>
            <a:srgbClr val="FBF8F1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AFC9B66-3637-48CD-844C-9374EB72C12D}"/>
              </a:ext>
            </a:extLst>
          </p:cNvPr>
          <p:cNvSpPr>
            <a:spLocks noGrp="1"/>
          </p:cNvSpPr>
          <p:nvPr/>
        </p:nvSpPr>
        <p:spPr>
          <a:xfrm>
            <a:off x="441960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15F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F72"/>
                </a:solidFill>
                <a:latin typeface="PingFang SC"/>
                <a:ea typeface="PingFang SC"/>
                <a:cs typeface="PingFang SC"/>
              </a:rPr>
              <a:t>90d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506AB9-7043-4CE9-90F8-9B391250779E}"/>
              </a:ext>
            </a:extLst>
          </p:cNvPr>
          <p:cNvSpPr>
            <a:spLocks noGrp="1"/>
          </p:cNvSpPr>
          <p:nvPr/>
        </p:nvSpPr>
        <p:spPr>
          <a:xfrm>
            <a:off x="5581650" y="4619625"/>
            <a:ext cx="7810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62459D-DF3B-4977-B512-747E0F1541EA}"/>
              </a:ext>
            </a:extLst>
          </p:cNvPr>
          <p:cNvSpPr>
            <a:spLocks noGrp="1"/>
          </p:cNvSpPr>
          <p:nvPr/>
        </p:nvSpPr>
        <p:spPr>
          <a:xfrm>
            <a:off x="558165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15F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F72"/>
                </a:solidFill>
                <a:latin typeface="PingFang SC"/>
                <a:ea typeface="PingFang SC"/>
                <a:cs typeface="PingFang SC"/>
              </a:rPr>
              <a:t>180d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B7C144-2F66-409F-A0F0-A3A38ABE6F33}"/>
              </a:ext>
            </a:extLst>
          </p:cNvPr>
          <p:cNvSpPr>
            <a:spLocks noGrp="1"/>
          </p:cNvSpPr>
          <p:nvPr/>
        </p:nvSpPr>
        <p:spPr>
          <a:xfrm>
            <a:off x="6743700" y="4619625"/>
            <a:ext cx="781050" cy="438150"/>
          </a:xfrm>
          <a:prstGeom prst="rect">
            <a:avLst/>
          </a:prstGeom>
          <a:solidFill>
            <a:srgbClr val="FBF8F1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056D74-26EB-4679-A774-E9F7B4140E3D}"/>
              </a:ext>
            </a:extLst>
          </p:cNvPr>
          <p:cNvSpPr>
            <a:spLocks noGrp="1"/>
          </p:cNvSpPr>
          <p:nvPr/>
        </p:nvSpPr>
        <p:spPr>
          <a:xfrm>
            <a:off x="6743700" y="4733925"/>
            <a:ext cx="781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315F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15F72"/>
                </a:solidFill>
                <a:latin typeface="PingFang SC"/>
                <a:ea typeface="PingFang SC"/>
                <a:cs typeface="PingFang SC"/>
              </a:rPr>
              <a:t>365d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8A1CF3A-9506-4218-A52D-E58019246710}"/>
              </a:ext>
            </a:extLst>
          </p:cNvPr>
          <p:cNvSpPr>
            <a:spLocks noGrp="1"/>
          </p:cNvSpPr>
          <p:nvPr/>
        </p:nvSpPr>
        <p:spPr>
          <a:xfrm>
            <a:off x="2381250" y="5191125"/>
            <a:ext cx="581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到期日集合支持短周期卖方策略与长期 LEAPS 研究</a:t>
            </a:r>
          </a:p>
        </p:txBody>
      </p:sp>
    </p:spTree>
    <p:extLst>
      <p:ext uri="{BB962C8B-B14F-4D97-AF65-F5344CB8AC3E}">
        <p14:creationId xmlns:p14="http://schemas.microsoft.com/office/powerpoint/2010/main" val="19950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06F58CFA-9509-4923-8CDE-3344B4BAC4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C4FF0297-8B6A-4C70-9DCB-AD63E3F1E0C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IV MODEL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A154A46C-46FB-4A5E-A726-5378FDD48F3D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32D059-8AF3-4100-B6A8-19C858FD481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合成 IV 是简单、透明、可校准的第一版市场情绪代理。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43B1FD-24C0-46D3-8E09-37CF078FFFC7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Synthetic IV 先由 20d HV × RSI multiplier × skew factor 得到，再按 symbol、DTE、call/put 和 delta bucket 校准 IV、mid、spread 与 delta。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51C4F-A100-4561-9F71-DCD781A744D4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E31972-C4DF-435A-BD53-0A61CF49F6B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05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673D33-B248-481D-B7EF-54FD2768CE66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模型取舍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1C692A-E9E5-4339-B0A1-8425C8A7EF84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943017-7F83-4A2A-9A6A-8EE757C13C38}"/>
              </a:ext>
            </a:extLst>
          </p:cNvPr>
          <p:cNvSpPr>
            <a:spLocks noGrp="1"/>
          </p:cNvSpPr>
          <p:nvPr/>
        </p:nvSpPr>
        <p:spPr>
          <a:xfrm>
            <a:off x="1047750" y="2971800"/>
            <a:ext cx="590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11C1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C1A"/>
                </a:solidFill>
                <a:latin typeface="PingFang SC"/>
                <a:ea typeface="PingFang SC"/>
                <a:cs typeface="PingFang SC"/>
              </a:rPr>
              <a:t>Synthetic IV = HV20 × RSI multiplier × skew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1BEABE-76C6-47BE-A4AC-8A9FD25F2695}"/>
              </a:ext>
            </a:extLst>
          </p:cNvPr>
          <p:cNvSpPr>
            <a:spLocks noGrp="1"/>
          </p:cNvSpPr>
          <p:nvPr/>
        </p:nvSpPr>
        <p:spPr>
          <a:xfrm>
            <a:off x="1238250" y="3762375"/>
            <a:ext cx="400050" cy="14287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E7AE83-A12A-4C34-A746-F9ECED4F3D3B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1.8x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89A53D-F563-417A-B695-83D447AD444D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恐慌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9885BB-0B0E-4F63-AA09-58D2FA9F3998}"/>
              </a:ext>
            </a:extLst>
          </p:cNvPr>
          <p:cNvSpPr>
            <a:spLocks noGrp="1"/>
          </p:cNvSpPr>
          <p:nvPr/>
        </p:nvSpPr>
        <p:spPr>
          <a:xfrm>
            <a:off x="2114550" y="4238625"/>
            <a:ext cx="400050" cy="9525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B75655-B006-4586-922A-58860DA000D2}"/>
              </a:ext>
            </a:extLst>
          </p:cNvPr>
          <p:cNvSpPr>
            <a:spLocks noGrp="1"/>
          </p:cNvSpPr>
          <p:nvPr/>
        </p:nvSpPr>
        <p:spPr>
          <a:xfrm>
            <a:off x="19431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1.2x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72B2E-C1D5-44BA-8CEF-EE8DF5F732CB}"/>
              </a:ext>
            </a:extLst>
          </p:cNvPr>
          <p:cNvSpPr>
            <a:spLocks noGrp="1"/>
          </p:cNvSpPr>
          <p:nvPr/>
        </p:nvSpPr>
        <p:spPr>
          <a:xfrm>
            <a:off x="19812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偏空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D54A6-46F0-47F2-B8A0-20BC311E564B}"/>
              </a:ext>
            </a:extLst>
          </p:cNvPr>
          <p:cNvSpPr>
            <a:spLocks noGrp="1"/>
          </p:cNvSpPr>
          <p:nvPr/>
        </p:nvSpPr>
        <p:spPr>
          <a:xfrm>
            <a:off x="2990850" y="4397375"/>
            <a:ext cx="400050" cy="79375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6E1CAF-812D-4B8D-896F-11B4551072E8}"/>
              </a:ext>
            </a:extLst>
          </p:cNvPr>
          <p:cNvSpPr>
            <a:spLocks noGrp="1"/>
          </p:cNvSpPr>
          <p:nvPr/>
        </p:nvSpPr>
        <p:spPr>
          <a:xfrm>
            <a:off x="28194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1.0x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5E6179-CC88-428F-91E4-756950CBB60C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中性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60ED79-CBA2-4BBC-9D6A-A343799BD797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400050" cy="714375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F16EE2-DFAB-4039-88B4-150389A68761}"/>
              </a:ext>
            </a:extLst>
          </p:cNvPr>
          <p:cNvSpPr>
            <a:spLocks noGrp="1"/>
          </p:cNvSpPr>
          <p:nvPr/>
        </p:nvSpPr>
        <p:spPr>
          <a:xfrm>
            <a:off x="36957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0.9x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32817A-46F7-45B8-A3E6-3C2290731693}"/>
              </a:ext>
            </a:extLst>
          </p:cNvPr>
          <p:cNvSpPr>
            <a:spLocks noGrp="1"/>
          </p:cNvSpPr>
          <p:nvPr/>
        </p:nvSpPr>
        <p:spPr>
          <a:xfrm>
            <a:off x="37338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偏多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D8306C-BCC3-44B6-910D-2B9AFC111F6A}"/>
              </a:ext>
            </a:extLst>
          </p:cNvPr>
          <p:cNvSpPr>
            <a:spLocks noGrp="1"/>
          </p:cNvSpPr>
          <p:nvPr/>
        </p:nvSpPr>
        <p:spPr>
          <a:xfrm>
            <a:off x="4743450" y="4318000"/>
            <a:ext cx="400050" cy="87312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5D3EF-4D04-4254-8B68-E2B383EFC1F5}"/>
              </a:ext>
            </a:extLst>
          </p:cNvPr>
          <p:cNvSpPr>
            <a:spLocks noGrp="1"/>
          </p:cNvSpPr>
          <p:nvPr/>
        </p:nvSpPr>
        <p:spPr>
          <a:xfrm>
            <a:off x="4572000" y="34290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1.1x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9757B6-875F-4CB0-AE1C-1DF080A2785B}"/>
              </a:ext>
            </a:extLst>
          </p:cNvPr>
          <p:cNvSpPr>
            <a:spLocks noGrp="1"/>
          </p:cNvSpPr>
          <p:nvPr/>
        </p:nvSpPr>
        <p:spPr>
          <a:xfrm>
            <a:off x="4610100" y="53340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过热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BA5F69-550B-415A-9322-BF6EBEA0518E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428625" cy="428625"/>
          </a:xfrm>
          <a:prstGeom prst="rect">
            <a:avLst/>
          </a:prstGeom>
          <a:solidFill>
            <a:srgbClr val="DDBB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ED8FD4-F406-4D9A-8BB3-256A0DF75517}"/>
              </a:ext>
            </a:extLst>
          </p:cNvPr>
          <p:cNvSpPr>
            <a:spLocks noGrp="1"/>
          </p:cNvSpPr>
          <p:nvPr/>
        </p:nvSpPr>
        <p:spPr>
          <a:xfrm>
            <a:off x="7696200" y="30003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8E6657-8FD0-45C3-A6B8-2CB12788DE05}"/>
              </a:ext>
            </a:extLst>
          </p:cNvPr>
          <p:cNvSpPr>
            <a:spLocks noGrp="1"/>
          </p:cNvSpPr>
          <p:nvPr/>
        </p:nvSpPr>
        <p:spPr>
          <a:xfrm>
            <a:off x="8153400" y="30003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2CC3D6-1205-400D-B630-566898E59C6A}"/>
              </a:ext>
            </a:extLst>
          </p:cNvPr>
          <p:cNvSpPr>
            <a:spLocks noGrp="1"/>
          </p:cNvSpPr>
          <p:nvPr/>
        </p:nvSpPr>
        <p:spPr>
          <a:xfrm>
            <a:off x="8610600" y="30003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A064E9-024B-4144-BD2E-5FDBD26D0164}"/>
              </a:ext>
            </a:extLst>
          </p:cNvPr>
          <p:cNvSpPr>
            <a:spLocks noGrp="1"/>
          </p:cNvSpPr>
          <p:nvPr/>
        </p:nvSpPr>
        <p:spPr>
          <a:xfrm>
            <a:off x="9067800" y="30003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F451F8-E3C5-43D5-A86C-4A6375145E5C}"/>
              </a:ext>
            </a:extLst>
          </p:cNvPr>
          <p:cNvSpPr>
            <a:spLocks noGrp="1"/>
          </p:cNvSpPr>
          <p:nvPr/>
        </p:nvSpPr>
        <p:spPr>
          <a:xfrm>
            <a:off x="9525000" y="30003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88FA19-30D8-4043-BE83-433AFD4112FD}"/>
              </a:ext>
            </a:extLst>
          </p:cNvPr>
          <p:cNvSpPr>
            <a:spLocks noGrp="1"/>
          </p:cNvSpPr>
          <p:nvPr/>
        </p:nvSpPr>
        <p:spPr>
          <a:xfrm>
            <a:off x="9982200" y="3000375"/>
            <a:ext cx="428625" cy="428625"/>
          </a:xfrm>
          <a:prstGeom prst="rect">
            <a:avLst/>
          </a:prstGeom>
          <a:solidFill>
            <a:srgbClr val="DDBB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A87B9F-21E8-4296-B554-01172AC82B43}"/>
              </a:ext>
            </a:extLst>
          </p:cNvPr>
          <p:cNvSpPr>
            <a:spLocks noGrp="1"/>
          </p:cNvSpPr>
          <p:nvPr/>
        </p:nvSpPr>
        <p:spPr>
          <a:xfrm>
            <a:off x="7239000" y="34575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DA192A-0BE6-42B5-97FC-38B981D48619}"/>
              </a:ext>
            </a:extLst>
          </p:cNvPr>
          <p:cNvSpPr>
            <a:spLocks noGrp="1"/>
          </p:cNvSpPr>
          <p:nvPr/>
        </p:nvSpPr>
        <p:spPr>
          <a:xfrm>
            <a:off x="7696200" y="34575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12DEFA-0324-47F5-B7E9-7C978FC5F77F}"/>
              </a:ext>
            </a:extLst>
          </p:cNvPr>
          <p:cNvSpPr>
            <a:spLocks noGrp="1"/>
          </p:cNvSpPr>
          <p:nvPr/>
        </p:nvSpPr>
        <p:spPr>
          <a:xfrm>
            <a:off x="8153400" y="34575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142D14-6193-4523-A626-B29C90AC072D}"/>
              </a:ext>
            </a:extLst>
          </p:cNvPr>
          <p:cNvSpPr>
            <a:spLocks noGrp="1"/>
          </p:cNvSpPr>
          <p:nvPr/>
        </p:nvSpPr>
        <p:spPr>
          <a:xfrm>
            <a:off x="8610600" y="34575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4A687A-A58A-4BA6-A02A-4F9D89B279B5}"/>
              </a:ext>
            </a:extLst>
          </p:cNvPr>
          <p:cNvSpPr>
            <a:spLocks noGrp="1"/>
          </p:cNvSpPr>
          <p:nvPr/>
        </p:nvSpPr>
        <p:spPr>
          <a:xfrm>
            <a:off x="9067800" y="34575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6A241D-063C-4270-8F55-4B9FBBAFE923}"/>
              </a:ext>
            </a:extLst>
          </p:cNvPr>
          <p:cNvSpPr>
            <a:spLocks noGrp="1"/>
          </p:cNvSpPr>
          <p:nvPr/>
        </p:nvSpPr>
        <p:spPr>
          <a:xfrm>
            <a:off x="9525000" y="34575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47F053-2558-425D-A48B-775480DC8A84}"/>
              </a:ext>
            </a:extLst>
          </p:cNvPr>
          <p:cNvSpPr>
            <a:spLocks noGrp="1"/>
          </p:cNvSpPr>
          <p:nvPr/>
        </p:nvSpPr>
        <p:spPr>
          <a:xfrm>
            <a:off x="9982200" y="34575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2AFF4D-97F8-430B-86FB-878A82F2546B}"/>
              </a:ext>
            </a:extLst>
          </p:cNvPr>
          <p:cNvSpPr>
            <a:spLocks noGrp="1"/>
          </p:cNvSpPr>
          <p:nvPr/>
        </p:nvSpPr>
        <p:spPr>
          <a:xfrm>
            <a:off x="7239000" y="39147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359241-CC7A-4A02-A47C-921024385C30}"/>
              </a:ext>
            </a:extLst>
          </p:cNvPr>
          <p:cNvSpPr>
            <a:spLocks noGrp="1"/>
          </p:cNvSpPr>
          <p:nvPr/>
        </p:nvSpPr>
        <p:spPr>
          <a:xfrm>
            <a:off x="7696200" y="39147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37EFD32-33E1-48CC-A60C-DFCADEC65A4C}"/>
              </a:ext>
            </a:extLst>
          </p:cNvPr>
          <p:cNvSpPr>
            <a:spLocks noGrp="1"/>
          </p:cNvSpPr>
          <p:nvPr/>
        </p:nvSpPr>
        <p:spPr>
          <a:xfrm>
            <a:off x="8153400" y="39147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0A5A37D-2B86-45AE-868E-C88BA4B949B9}"/>
              </a:ext>
            </a:extLst>
          </p:cNvPr>
          <p:cNvSpPr>
            <a:spLocks noGrp="1"/>
          </p:cNvSpPr>
          <p:nvPr/>
        </p:nvSpPr>
        <p:spPr>
          <a:xfrm>
            <a:off x="8610600" y="39147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941715F-EADD-417B-918B-DE0A2EA5A67E}"/>
              </a:ext>
            </a:extLst>
          </p:cNvPr>
          <p:cNvSpPr>
            <a:spLocks noGrp="1"/>
          </p:cNvSpPr>
          <p:nvPr/>
        </p:nvSpPr>
        <p:spPr>
          <a:xfrm>
            <a:off x="9067800" y="39147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B5458D-9249-4C5C-AD9D-40DC6D862FB7}"/>
              </a:ext>
            </a:extLst>
          </p:cNvPr>
          <p:cNvSpPr>
            <a:spLocks noGrp="1"/>
          </p:cNvSpPr>
          <p:nvPr/>
        </p:nvSpPr>
        <p:spPr>
          <a:xfrm>
            <a:off x="9525000" y="39147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570EEF-A1DD-42DA-9C00-AFFADCA1B5A2}"/>
              </a:ext>
            </a:extLst>
          </p:cNvPr>
          <p:cNvSpPr>
            <a:spLocks noGrp="1"/>
          </p:cNvSpPr>
          <p:nvPr/>
        </p:nvSpPr>
        <p:spPr>
          <a:xfrm>
            <a:off x="9982200" y="39147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E94407-B48C-4C17-866F-A38CE6C72E48}"/>
              </a:ext>
            </a:extLst>
          </p:cNvPr>
          <p:cNvSpPr>
            <a:spLocks noGrp="1"/>
          </p:cNvSpPr>
          <p:nvPr/>
        </p:nvSpPr>
        <p:spPr>
          <a:xfrm>
            <a:off x="7239000" y="43719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5EAD0FC-FEA7-4FF8-8BE4-4A7FAAB34D13}"/>
              </a:ext>
            </a:extLst>
          </p:cNvPr>
          <p:cNvSpPr>
            <a:spLocks noGrp="1"/>
          </p:cNvSpPr>
          <p:nvPr/>
        </p:nvSpPr>
        <p:spPr>
          <a:xfrm>
            <a:off x="7696200" y="43719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49C916-A625-49FD-8C90-931740680E03}"/>
              </a:ext>
            </a:extLst>
          </p:cNvPr>
          <p:cNvSpPr>
            <a:spLocks noGrp="1"/>
          </p:cNvSpPr>
          <p:nvPr/>
        </p:nvSpPr>
        <p:spPr>
          <a:xfrm>
            <a:off x="8153400" y="43719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BC03B9-1EB4-4E42-B0B0-1B3F50045325}"/>
              </a:ext>
            </a:extLst>
          </p:cNvPr>
          <p:cNvSpPr>
            <a:spLocks noGrp="1"/>
          </p:cNvSpPr>
          <p:nvPr/>
        </p:nvSpPr>
        <p:spPr>
          <a:xfrm>
            <a:off x="8610600" y="43719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744A88-BF59-40AE-9743-77D3F72726E9}"/>
              </a:ext>
            </a:extLst>
          </p:cNvPr>
          <p:cNvSpPr>
            <a:spLocks noGrp="1"/>
          </p:cNvSpPr>
          <p:nvPr/>
        </p:nvSpPr>
        <p:spPr>
          <a:xfrm>
            <a:off x="9067800" y="43719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99CF00E-21F6-4777-8F34-51B6FF559B78}"/>
              </a:ext>
            </a:extLst>
          </p:cNvPr>
          <p:cNvSpPr>
            <a:spLocks noGrp="1"/>
          </p:cNvSpPr>
          <p:nvPr/>
        </p:nvSpPr>
        <p:spPr>
          <a:xfrm>
            <a:off x="9525000" y="43719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97E8A4-E146-4413-A8A5-31BA80A02650}"/>
              </a:ext>
            </a:extLst>
          </p:cNvPr>
          <p:cNvSpPr>
            <a:spLocks noGrp="1"/>
          </p:cNvSpPr>
          <p:nvPr/>
        </p:nvSpPr>
        <p:spPr>
          <a:xfrm>
            <a:off x="9982200" y="43719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B43B6E-3406-4C06-8950-E0618112ADCE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D9B0B41-F8C1-4062-8E09-FA89E843E8A2}"/>
              </a:ext>
            </a:extLst>
          </p:cNvPr>
          <p:cNvSpPr>
            <a:spLocks noGrp="1"/>
          </p:cNvSpPr>
          <p:nvPr/>
        </p:nvSpPr>
        <p:spPr>
          <a:xfrm>
            <a:off x="7696200" y="48291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07B3624-555A-45D9-AE53-59CE1C2FB116}"/>
              </a:ext>
            </a:extLst>
          </p:cNvPr>
          <p:cNvSpPr>
            <a:spLocks noGrp="1"/>
          </p:cNvSpPr>
          <p:nvPr/>
        </p:nvSpPr>
        <p:spPr>
          <a:xfrm>
            <a:off x="8153400" y="48291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C59515-5534-44D6-9090-EF110CB368A6}"/>
              </a:ext>
            </a:extLst>
          </p:cNvPr>
          <p:cNvSpPr>
            <a:spLocks noGrp="1"/>
          </p:cNvSpPr>
          <p:nvPr/>
        </p:nvSpPr>
        <p:spPr>
          <a:xfrm>
            <a:off x="8610600" y="4829175"/>
            <a:ext cx="428625" cy="428625"/>
          </a:xfrm>
          <a:prstGeom prst="rect">
            <a:avLst/>
          </a:prstGeom>
          <a:solidFill>
            <a:srgbClr val="E5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7FED9AC-7BC8-4E79-94D8-DC41497482D1}"/>
              </a:ext>
            </a:extLst>
          </p:cNvPr>
          <p:cNvSpPr>
            <a:spLocks noGrp="1"/>
          </p:cNvSpPr>
          <p:nvPr/>
        </p:nvSpPr>
        <p:spPr>
          <a:xfrm>
            <a:off x="9067800" y="4829175"/>
            <a:ext cx="428625" cy="428625"/>
          </a:xfrm>
          <a:prstGeom prst="rect">
            <a:avLst/>
          </a:prstGeom>
          <a:solidFill>
            <a:srgbClr val="C9E0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E01EE31-D651-43BB-BEFB-0B14D04EA9CE}"/>
              </a:ext>
            </a:extLst>
          </p:cNvPr>
          <p:cNvSpPr>
            <a:spLocks noGrp="1"/>
          </p:cNvSpPr>
          <p:nvPr/>
        </p:nvSpPr>
        <p:spPr>
          <a:xfrm>
            <a:off x="9525000" y="4829175"/>
            <a:ext cx="428625" cy="428625"/>
          </a:xfrm>
          <a:prstGeom prst="rect">
            <a:avLst/>
          </a:prstGeom>
          <a:solidFill>
            <a:srgbClr val="9FC4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967D8F-71AA-4A77-BE42-13EDA13BF109}"/>
              </a:ext>
            </a:extLst>
          </p:cNvPr>
          <p:cNvSpPr>
            <a:spLocks noGrp="1"/>
          </p:cNvSpPr>
          <p:nvPr/>
        </p:nvSpPr>
        <p:spPr>
          <a:xfrm>
            <a:off x="9982200" y="4829175"/>
            <a:ext cx="428625" cy="428625"/>
          </a:xfrm>
          <a:prstGeom prst="rect">
            <a:avLst/>
          </a:prstGeom>
          <a:solidFill>
            <a:srgbClr val="78A7A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CECFBA3-F8E1-4F92-B6D7-5A01251966B4}"/>
              </a:ext>
            </a:extLst>
          </p:cNvPr>
          <p:cNvSpPr>
            <a:spLocks noGrp="1"/>
          </p:cNvSpPr>
          <p:nvPr/>
        </p:nvSpPr>
        <p:spPr>
          <a:xfrm>
            <a:off x="7239000" y="5476875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示意：skew/moneyness 让 OTM 区域 IV 更高</a:t>
            </a:r>
          </a:p>
        </p:txBody>
      </p:sp>
    </p:spTree>
    <p:extLst>
      <p:ext uri="{BB962C8B-B14F-4D97-AF65-F5344CB8AC3E}">
        <p14:creationId xmlns:p14="http://schemas.microsoft.com/office/powerpoint/2010/main" val="135511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B4DEC02B-9AF0-4A56-B770-7FDE0F3B05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33FF6BB-544B-435E-A8F6-C8C8D2B772C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BACKTEST LAYER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9441E04-C281-4B61-8F57-02527C9E905F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0C53C-DCAC-4FD3-A108-262BF2DB4C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生成链让 WHEELS、LEAPS 和价差策略可以被事件化回测。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DC2039-FF04-4093-BD36-6E64A12CB7F1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当前实现覆盖模拟链 API 与 WHEELS 回测；LEAPS、PMCC 和 spreads 可复用同一套选合约、重定价与结算机制继续扩展。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8E7432-BFAE-409C-81EF-8B85F75DB3AF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CC054-ED0B-4446-85A0-59E85ED0163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06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628D0D-2CD9-4B84-906A-B398765D2F39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策略层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F78992-C488-4F0D-8E54-32B00D0891F0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E53A9D-8203-47A4-AF63-DB9F70709086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844BE0-6ECD-40F3-90C6-785B3CDF4191}"/>
              </a:ext>
            </a:extLst>
          </p:cNvPr>
          <p:cNvSpPr>
            <a:spLocks noGrp="1"/>
          </p:cNvSpPr>
          <p:nvPr/>
        </p:nvSpPr>
        <p:spPr>
          <a:xfrm>
            <a:off x="914400" y="3190875"/>
            <a:ext cx="47625" cy="11239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7B68D3-4CE3-45AB-AC46-B79218F460F4}"/>
              </a:ext>
            </a:extLst>
          </p:cNvPr>
          <p:cNvSpPr>
            <a:spLocks noGrp="1"/>
          </p:cNvSpPr>
          <p:nvPr/>
        </p:nvSpPr>
        <p:spPr>
          <a:xfrm>
            <a:off x="108585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持现金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C2CC1-9186-4F56-870E-2CD9D6477DBC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Sell Put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Delta ≈ -0.30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085951D-50DD-4994-B4FD-FBB3DE9B6A87}"/>
              </a:ext>
            </a:extLst>
          </p:cNvPr>
          <p:cNvSpPr>
            <a:spLocks noGrp="1"/>
          </p:cNvSpPr>
          <p:nvPr/>
        </p:nvSpPr>
        <p:spPr>
          <a:xfrm>
            <a:off x="3009900" y="3752850"/>
            <a:ext cx="3619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77E569-39C7-4834-ABFA-CAAB82B2583D}"/>
              </a:ext>
            </a:extLst>
          </p:cNvPr>
          <p:cNvSpPr>
            <a:spLocks noGrp="1"/>
          </p:cNvSpPr>
          <p:nvPr/>
        </p:nvSpPr>
        <p:spPr>
          <a:xfrm>
            <a:off x="348615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8FC6A-BC2D-4D50-8831-F8B1B7BE9F11}"/>
              </a:ext>
            </a:extLst>
          </p:cNvPr>
          <p:cNvSpPr>
            <a:spLocks noGrp="1"/>
          </p:cNvSpPr>
          <p:nvPr/>
        </p:nvSpPr>
        <p:spPr>
          <a:xfrm>
            <a:off x="3486150" y="3190875"/>
            <a:ext cx="47625" cy="112395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CA7C56-3426-44B7-8C99-83232D171468}"/>
              </a:ext>
            </a:extLst>
          </p:cNvPr>
          <p:cNvSpPr>
            <a:spLocks noGrp="1"/>
          </p:cNvSpPr>
          <p:nvPr/>
        </p:nvSpPr>
        <p:spPr>
          <a:xfrm>
            <a:off x="365760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等待到期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84D319-4AE6-4BBA-B969-2F06E133181B}"/>
              </a:ext>
            </a:extLst>
          </p:cNvPr>
          <p:cNvSpPr>
            <a:spLocks noGrp="1"/>
          </p:cNvSpPr>
          <p:nvPr/>
        </p:nvSpPr>
        <p:spPr>
          <a:xfrm>
            <a:off x="365760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OTM: 保留权利金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ITM: 被指派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0CA3F9B-4099-4993-A191-2634291E6224}"/>
              </a:ext>
            </a:extLst>
          </p:cNvPr>
          <p:cNvSpPr>
            <a:spLocks noGrp="1"/>
          </p:cNvSpPr>
          <p:nvPr/>
        </p:nvSpPr>
        <p:spPr>
          <a:xfrm>
            <a:off x="5581650" y="3752850"/>
            <a:ext cx="3619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7A74C7-FF55-447E-AC60-421B19643F1F}"/>
              </a:ext>
            </a:extLst>
          </p:cNvPr>
          <p:cNvSpPr>
            <a:spLocks noGrp="1"/>
          </p:cNvSpPr>
          <p:nvPr/>
        </p:nvSpPr>
        <p:spPr>
          <a:xfrm>
            <a:off x="605790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088A28-1647-4721-8C14-17F093F55BB7}"/>
              </a:ext>
            </a:extLst>
          </p:cNvPr>
          <p:cNvSpPr>
            <a:spLocks noGrp="1"/>
          </p:cNvSpPr>
          <p:nvPr/>
        </p:nvSpPr>
        <p:spPr>
          <a:xfrm>
            <a:off x="6057900" y="3190875"/>
            <a:ext cx="47625" cy="112395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BF5D47-679D-407E-9A4F-9F0F9DFC08C7}"/>
              </a:ext>
            </a:extLst>
          </p:cNvPr>
          <p:cNvSpPr>
            <a:spLocks noGrp="1"/>
          </p:cNvSpPr>
          <p:nvPr/>
        </p:nvSpPr>
        <p:spPr>
          <a:xfrm>
            <a:off x="622935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持股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053566-9AD1-4CFB-B572-FADC75858AD1}"/>
              </a:ext>
            </a:extLst>
          </p:cNvPr>
          <p:cNvSpPr>
            <a:spLocks noGrp="1"/>
          </p:cNvSpPr>
          <p:nvPr/>
        </p:nvSpPr>
        <p:spPr>
          <a:xfrm>
            <a:off x="622935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Sell Covered Call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Delta ≈ 0.30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97C5490C-E735-48C0-8475-6AEB791FE791}"/>
              </a:ext>
            </a:extLst>
          </p:cNvPr>
          <p:cNvSpPr>
            <a:spLocks noGrp="1"/>
          </p:cNvSpPr>
          <p:nvPr/>
        </p:nvSpPr>
        <p:spPr>
          <a:xfrm>
            <a:off x="8153400" y="3752850"/>
            <a:ext cx="36195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61706C"/>
            </a:solidFill>
          </a:ln>
        </p:spPr>
        <p:txBody>
          <a:bodyPr/>
          <a:p/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935050-DD16-4898-9F06-1996495CB00E}"/>
              </a:ext>
            </a:extLst>
          </p:cNvPr>
          <p:cNvSpPr>
            <a:spLocks noGrp="1"/>
          </p:cNvSpPr>
          <p:nvPr/>
        </p:nvSpPr>
        <p:spPr>
          <a:xfrm>
            <a:off x="8629650" y="3190875"/>
            <a:ext cx="2047875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9D12E1-DFBA-45AE-B4C4-672E5A9DD46E}"/>
              </a:ext>
            </a:extLst>
          </p:cNvPr>
          <p:cNvSpPr>
            <a:spLocks noGrp="1"/>
          </p:cNvSpPr>
          <p:nvPr/>
        </p:nvSpPr>
        <p:spPr>
          <a:xfrm>
            <a:off x="8629650" y="3190875"/>
            <a:ext cx="47625" cy="11239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1FA00E-27C8-4521-BCF7-7CFCA20F1E97}"/>
              </a:ext>
            </a:extLst>
          </p:cNvPr>
          <p:cNvSpPr>
            <a:spLocks noGrp="1"/>
          </p:cNvSpPr>
          <p:nvPr/>
        </p:nvSpPr>
        <p:spPr>
          <a:xfrm>
            <a:off x="8801100" y="3343275"/>
            <a:ext cx="17430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结算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977347-38B7-4AEE-8929-9A2497328835}"/>
              </a:ext>
            </a:extLst>
          </p:cNvPr>
          <p:cNvSpPr>
            <a:spLocks noGrp="1"/>
          </p:cNvSpPr>
          <p:nvPr/>
        </p:nvSpPr>
        <p:spPr>
          <a:xfrm>
            <a:off x="8801100" y="3600450"/>
            <a:ext cx="17240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OTM: 继续收租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ITM: 股票被 call 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B279B7-BDA5-427F-ADFC-22A066ADD841}"/>
              </a:ext>
            </a:extLst>
          </p:cNvPr>
          <p:cNvSpPr>
            <a:spLocks noGrp="1"/>
          </p:cNvSpPr>
          <p:nvPr/>
        </p:nvSpPr>
        <p:spPr>
          <a:xfrm>
            <a:off x="1238250" y="4905375"/>
            <a:ext cx="895350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F555A6-23A4-459D-8ED4-7DEB8EBE9F88}"/>
              </a:ext>
            </a:extLst>
          </p:cNvPr>
          <p:cNvSpPr>
            <a:spLocks noGrp="1"/>
          </p:cNvSpPr>
          <p:nvPr/>
        </p:nvSpPr>
        <p:spPr>
          <a:xfrm>
            <a:off x="2000250" y="5191125"/>
            <a:ext cx="1123950" cy="26670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32060C-59C2-456C-B35B-0776C08736B1}"/>
              </a:ext>
            </a:extLst>
          </p:cNvPr>
          <p:cNvSpPr>
            <a:spLocks noGrp="1"/>
          </p:cNvSpPr>
          <p:nvPr/>
        </p:nvSpPr>
        <p:spPr>
          <a:xfrm>
            <a:off x="211455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WHEELS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E0491D-B047-4436-85FE-4E1C87A35F8C}"/>
              </a:ext>
            </a:extLst>
          </p:cNvPr>
          <p:cNvSpPr>
            <a:spLocks noGrp="1"/>
          </p:cNvSpPr>
          <p:nvPr/>
        </p:nvSpPr>
        <p:spPr>
          <a:xfrm>
            <a:off x="3810000" y="5191125"/>
            <a:ext cx="1123950" cy="266700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37FA8D-F63E-4121-B493-E850672ECAA2}"/>
              </a:ext>
            </a:extLst>
          </p:cNvPr>
          <p:cNvSpPr>
            <a:spLocks noGrp="1"/>
          </p:cNvSpPr>
          <p:nvPr/>
        </p:nvSpPr>
        <p:spPr>
          <a:xfrm>
            <a:off x="392430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LEAPS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12D9ED-E7E5-40FB-89FB-B3D37B7B5B5E}"/>
              </a:ext>
            </a:extLst>
          </p:cNvPr>
          <p:cNvSpPr>
            <a:spLocks noGrp="1"/>
          </p:cNvSpPr>
          <p:nvPr/>
        </p:nvSpPr>
        <p:spPr>
          <a:xfrm>
            <a:off x="5619750" y="5191125"/>
            <a:ext cx="1123950" cy="2667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794853-3827-4384-8E22-A693F4BFAFD3}"/>
              </a:ext>
            </a:extLst>
          </p:cNvPr>
          <p:cNvSpPr>
            <a:spLocks noGrp="1"/>
          </p:cNvSpPr>
          <p:nvPr/>
        </p:nvSpPr>
        <p:spPr>
          <a:xfrm>
            <a:off x="573405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PMCC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BC1E94-8B63-4FE1-A167-397628E2E9AD}"/>
              </a:ext>
            </a:extLst>
          </p:cNvPr>
          <p:cNvSpPr>
            <a:spLocks noGrp="1"/>
          </p:cNvSpPr>
          <p:nvPr/>
        </p:nvSpPr>
        <p:spPr>
          <a:xfrm>
            <a:off x="7429500" y="5191125"/>
            <a:ext cx="1123950" cy="26670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EF275A-59AC-4093-9E56-D491361AC3BE}"/>
              </a:ext>
            </a:extLst>
          </p:cNvPr>
          <p:cNvSpPr>
            <a:spLocks noGrp="1"/>
          </p:cNvSpPr>
          <p:nvPr/>
        </p:nvSpPr>
        <p:spPr>
          <a:xfrm>
            <a:off x="7543800" y="5248275"/>
            <a:ext cx="895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SPREADS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5DA3BC-1A29-45D3-A736-54C5037CFA32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同一条链数据可以驱动不同策略；差异主要在选合约规则和状态转移。</a:t>
            </a:r>
          </a:p>
        </p:txBody>
      </p:sp>
    </p:spTree>
    <p:extLst>
      <p:ext uri="{BB962C8B-B14F-4D97-AF65-F5344CB8AC3E}">
        <p14:creationId xmlns:p14="http://schemas.microsoft.com/office/powerpoint/2010/main" val="56154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1E6222-C4DE-4AB5-98FA-4F5BAE7E1F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9E2A534B-73EB-4F49-B9B3-A8660B368FB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ENGINEERING CHOICE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6814B139-EE96-4A73-8536-A4DF51F7333A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28B45-9B2C-4144-A5E5-C11DAC0AD845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按需计算期权链，比存储完整历史链更适合当前阶段。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2C794-C773-4A57-8253-3C9190DC114D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日级模拟计算量小，API 请求时生成即可；系统保存紧凑的校准参数和校准报告，而不是全量历史期权链，同时保存回测结果、交易记录和权益曲线。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58C824-F41A-4B10-8050-B1E4BD54BEBD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5FFED8-6ADF-4CB3-B881-CF4B1CC8D1F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07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C334F-F8CE-4AEA-B06E-10C039704D2B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成本与复杂度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77510C-BDBE-47A9-B1EE-A5D9FBB47311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626A2E-B819-4F58-9635-ED190AA388CC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3333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D737B-F04C-4E4D-BE77-B013BF626D5C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7625" cy="1619250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880363-E21B-4657-BE0A-24F87E2330D3}"/>
              </a:ext>
            </a:extLst>
          </p:cNvPr>
          <p:cNvSpPr>
            <a:spLocks noGrp="1"/>
          </p:cNvSpPr>
          <p:nvPr/>
        </p:nvSpPr>
        <p:spPr>
          <a:xfrm>
            <a:off x="1600200" y="3295650"/>
            <a:ext cx="3028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存储完整历史链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1ADB76-4620-400F-9887-CF2F2B10541B}"/>
              </a:ext>
            </a:extLst>
          </p:cNvPr>
          <p:cNvSpPr>
            <a:spLocks noGrp="1"/>
          </p:cNvSpPr>
          <p:nvPr/>
        </p:nvSpPr>
        <p:spPr>
          <a:xfrm>
            <a:off x="1600200" y="3552825"/>
            <a:ext cx="30099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大表 + 高成本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需要清洗每个合约生命周期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适合生产级真实链归档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E0F9D-B219-4A9C-9E2C-84E198D9D0DE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3333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6"/>
            </a:solidFill>
          </a:ln>
        </p:spPr>
        <p:txBody>
          <a:bodyPr/>
          <a:p/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9A4B0C-C8AB-4910-A537-441BAC59BFB6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47625" cy="1619250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498E4D-F592-41FF-9271-4DD4337BA885}"/>
              </a:ext>
            </a:extLst>
          </p:cNvPr>
          <p:cNvSpPr>
            <a:spLocks noGrp="1"/>
          </p:cNvSpPr>
          <p:nvPr/>
        </p:nvSpPr>
        <p:spPr>
          <a:xfrm>
            <a:off x="7600950" y="3295650"/>
            <a:ext cx="3028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请求时生成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C4BBE4-D312-4C17-BBB5-A51E71BF3D63}"/>
              </a:ext>
            </a:extLst>
          </p:cNvPr>
          <p:cNvSpPr>
            <a:spLocks noGrp="1"/>
          </p:cNvSpPr>
          <p:nvPr/>
        </p:nvSpPr>
        <p:spPr>
          <a:xfrm>
            <a:off x="7600950" y="3552825"/>
            <a:ext cx="30099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日级计算轻量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参数可追溯、链可复现</a:t>
            </a:r>
          </a:p>
          <a:p>
            <a:pPr algn="l">
              <a:def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适合研究与早期校准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A8EABA-DCDF-4428-8ADD-DD8B975F2173}"/>
              </a:ext>
            </a:extLst>
          </p:cNvPr>
          <p:cNvSpPr>
            <a:spLocks noGrp="1"/>
          </p:cNvSpPr>
          <p:nvPr/>
        </p:nvSpPr>
        <p:spPr>
          <a:xfrm>
            <a:off x="5715000" y="3714750"/>
            <a:ext cx="762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VS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272D61-63FF-4477-9046-FC5034E1ACFC}"/>
              </a:ext>
            </a:extLst>
          </p:cNvPr>
          <p:cNvSpPr>
            <a:spLocks noGrp="1"/>
          </p:cNvSpPr>
          <p:nvPr/>
        </p:nvSpPr>
        <p:spPr>
          <a:xfrm>
            <a:off x="3886200" y="519112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GET /api/options/synth/chain/{ticker}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5DEDB5-9810-43E3-AA9A-D5CCF4DF7997}"/>
              </a:ext>
            </a:extLst>
          </p:cNvPr>
          <p:cNvSpPr>
            <a:spLocks noGrp="1"/>
          </p:cNvSpPr>
          <p:nvPr/>
        </p:nvSpPr>
        <p:spPr>
          <a:xfrm>
            <a:off x="3886200" y="545782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315F72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315F72"/>
                </a:solidFill>
                <a:latin typeface="PingFang SC"/>
                <a:ea typeface="PingFang SC"/>
                <a:cs typeface="PingFang SC"/>
              </a:rPr>
              <a:t>POST /api/options/backtest/wheels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A7B2C0-43EA-47E7-9C44-1FC91A3A1303}"/>
              </a:ext>
            </a:extLst>
          </p:cNvPr>
          <p:cNvSpPr>
            <a:spLocks noGrp="1"/>
          </p:cNvSpPr>
          <p:nvPr/>
        </p:nvSpPr>
        <p:spPr>
          <a:xfrm>
            <a:off x="3886200" y="5724525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POST /api/options/calibration/run</a:t>
            </a:r>
          </a:p>
        </p:txBody>
      </p:sp>
    </p:spTree>
    <p:extLst>
      <p:ext uri="{BB962C8B-B14F-4D97-AF65-F5344CB8AC3E}">
        <p14:creationId xmlns:p14="http://schemas.microsoft.com/office/powerpoint/2010/main" val="58279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DFE0643-ED24-456F-B009-D070C508C7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" name="kicker-label">
            <a:extLst>
              <a:ext uri="{FF2B5EF4-FFF2-40B4-BE49-F238E27FC236}">
                <a16:creationId xmlns:a16="http://schemas.microsoft.com/office/drawing/2014/main" id="{B746AD90-F019-4659-B6F0-8B6DE0845A7B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CALIBRATION LOOP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9C49C11C-06C0-4BA7-9FE9-98080A8AB608}"/>
              </a:ext>
            </a:extLst>
          </p:cNvPr>
          <p:cNvSpPr>
            <a:spLocks noGrp="1"/>
          </p:cNvSpPr>
          <p:nvPr/>
        </p:nvSpPr>
        <p:spPr>
          <a:xfrm>
            <a:off x="457200" y="504825"/>
            <a:ext cx="76200" cy="76200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D1A33-9503-48E1-BAAC-49AA734A897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28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清楚标注边界，才能让模拟器成为可靠的研究工具。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B86A88-F5DD-4486-A138-DFAACC240E12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6858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校准闭环已经加入：抓取 Schwab 真实链快照，过滤低质量报价，对比 synthetic contract，统计 before/after error，并更新 bucketed correction factors。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CE6B68-457B-4AC6-9C29-BF55FF7D5475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9525"/>
          </a:xfrm>
          <a:prstGeom prst="rect">
            <a:avLst/>
          </a:prstGeom>
          <a:solidFill>
            <a:srgbClr val="CFC4B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73EF6-11A8-4EB0-A10C-DD55D3A92EC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08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49DF7-4D52-4F3D-8326-17D4D091B91C}"/>
              </a:ext>
            </a:extLst>
          </p:cNvPr>
          <p:cNvSpPr>
            <a:spLocks noGrp="1"/>
          </p:cNvSpPr>
          <p:nvPr/>
        </p:nvSpPr>
        <p:spPr>
          <a:xfrm>
            <a:off x="150495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当前校准闭环与后续方向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1FCAB4-69FE-48CC-B5D8-84B968D09A17}"/>
              </a:ext>
            </a:extLst>
          </p:cNvPr>
          <p:cNvSpPr>
            <a:spLocks noGrp="1"/>
          </p:cNvSpPr>
          <p:nvPr/>
        </p:nvSpPr>
        <p:spPr>
          <a:xfrm>
            <a:off x="8001000" y="63817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Source: BRstock1 docs + codebase, 2026-05-09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520771-4907-413D-AA92-47B91715D79E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6B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6B5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565D2A-360D-4AF2-8D41-4E2C2C874F8B}"/>
              </a:ext>
            </a:extLst>
          </p:cNvPr>
          <p:cNvSpPr>
            <a:spLocks noGrp="1"/>
          </p:cNvSpPr>
          <p:nvPr/>
        </p:nvSpPr>
        <p:spPr>
          <a:xfrm>
            <a:off x="2000250" y="3133725"/>
            <a:ext cx="7000875" cy="9525"/>
          </a:xfrm>
          <a:prstGeom prst="rect">
            <a:avLst/>
          </a:prstGeom>
          <a:solidFill>
            <a:srgbClr val="176B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48EA63-D89F-4149-9163-F6B41957E171}"/>
              </a:ext>
            </a:extLst>
          </p:cNvPr>
          <p:cNvSpPr>
            <a:spLocks noGrp="1"/>
          </p:cNvSpPr>
          <p:nvPr/>
        </p:nvSpPr>
        <p:spPr>
          <a:xfrm>
            <a:off x="2171700" y="29813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当前可用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62216D-7409-4984-BE56-C5DB86088A31}"/>
              </a:ext>
            </a:extLst>
          </p:cNvPr>
          <p:cNvSpPr>
            <a:spLocks noGrp="1"/>
          </p:cNvSpPr>
          <p:nvPr/>
        </p:nvSpPr>
        <p:spPr>
          <a:xfrm>
            <a:off x="4095750" y="29908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模拟链 API、WHEELS 回测、结果历史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063F82-C8A9-49CE-92FB-9761A34A0080}"/>
              </a:ext>
            </a:extLst>
          </p:cNvPr>
          <p:cNvSpPr>
            <a:spLocks noGrp="1"/>
          </p:cNvSpPr>
          <p:nvPr/>
        </p:nvSpPr>
        <p:spPr>
          <a:xfrm>
            <a:off x="1428750" y="366712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15F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5F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53662A-B056-4388-8CBD-C0EAD1B83DBF}"/>
              </a:ext>
            </a:extLst>
          </p:cNvPr>
          <p:cNvSpPr>
            <a:spLocks noGrp="1"/>
          </p:cNvSpPr>
          <p:nvPr/>
        </p:nvSpPr>
        <p:spPr>
          <a:xfrm>
            <a:off x="2000250" y="3800475"/>
            <a:ext cx="7000875" cy="9525"/>
          </a:xfrm>
          <a:prstGeom prst="rect">
            <a:avLst/>
          </a:prstGeom>
          <a:solidFill>
            <a:srgbClr val="315F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B3B47-1BCD-4010-B421-157CA1A59768}"/>
              </a:ext>
            </a:extLst>
          </p:cNvPr>
          <p:cNvSpPr>
            <a:spLocks noGrp="1"/>
          </p:cNvSpPr>
          <p:nvPr/>
        </p:nvSpPr>
        <p:spPr>
          <a:xfrm>
            <a:off x="2171700" y="36480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Schwab 抽样校准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922B82-F5B4-46E0-A410-115A72232739}"/>
              </a:ext>
            </a:extLst>
          </p:cNvPr>
          <p:cNvSpPr>
            <a:spLocks noGrp="1"/>
          </p:cNvSpPr>
          <p:nvPr/>
        </p:nvSpPr>
        <p:spPr>
          <a:xfrm>
            <a:off x="4095750" y="3657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t>用当前 Schwab 链校准 IV、mid、spread 和 delta bucket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1BF2A9-47E5-44C1-A3EE-6F487DC9DA7E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3CED4-C446-4592-8CA1-F9B7697FC19D}"/>
              </a:ext>
            </a:extLst>
          </p:cNvPr>
          <p:cNvSpPr>
            <a:spLocks noGrp="1"/>
          </p:cNvSpPr>
          <p:nvPr/>
        </p:nvSpPr>
        <p:spPr>
          <a:xfrm>
            <a:off x="2000250" y="4467225"/>
            <a:ext cx="7000875" cy="952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4EF73C-D4C3-43E5-A142-D312E510C5F9}"/>
              </a:ext>
            </a:extLst>
          </p:cNvPr>
          <p:cNvSpPr>
            <a:spLocks noGrp="1"/>
          </p:cNvSpPr>
          <p:nvPr/>
        </p:nvSpPr>
        <p:spPr>
          <a:xfrm>
            <a:off x="2171700" y="431482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定价升级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E90CEB-03EC-4CAE-A8E2-5F69E5FA606F}"/>
              </a:ext>
            </a:extLst>
          </p:cNvPr>
          <p:cNvSpPr>
            <a:spLocks noGrp="1"/>
          </p:cNvSpPr>
          <p:nvPr/>
        </p:nvSpPr>
        <p:spPr>
          <a:xfrm>
            <a:off x="4095750" y="43243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美式期权二叉树、股息/除权、流动性分层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ACCE50-FFF2-4EC5-883A-68589FBDAD46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9A4F3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9A4F3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ECCD60-F14D-4D3F-9EE8-417DA199AA9E}"/>
              </a:ext>
            </a:extLst>
          </p:cNvPr>
          <p:cNvSpPr>
            <a:spLocks noGrp="1"/>
          </p:cNvSpPr>
          <p:nvPr/>
        </p:nvSpPr>
        <p:spPr>
          <a:xfrm>
            <a:off x="2000250" y="5133975"/>
            <a:ext cx="7000875" cy="9525"/>
          </a:xfrm>
          <a:prstGeom prst="rect">
            <a:avLst/>
          </a:prstGeom>
          <a:solidFill>
            <a:srgbClr val="9A4F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7FA52E-7B38-4B8F-B052-270011C37064}"/>
              </a:ext>
            </a:extLst>
          </p:cNvPr>
          <p:cNvSpPr>
            <a:spLocks noGrp="1"/>
          </p:cNvSpPr>
          <p:nvPr/>
        </p:nvSpPr>
        <p:spPr>
          <a:xfrm>
            <a:off x="2171700" y="49815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5201E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201E"/>
                </a:solidFill>
                <a:latin typeface="PingFang SC"/>
                <a:ea typeface="PingFang SC"/>
                <a:cs typeface="PingFang SC"/>
              </a:rPr>
              <a:t>策略扩展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58F36A-9CBB-49B7-9DF7-D386E338CB0F}"/>
              </a:ext>
            </a:extLst>
          </p:cNvPr>
          <p:cNvSpPr>
            <a:spLocks noGrp="1"/>
          </p:cNvSpPr>
          <p:nvPr/>
        </p:nvSpPr>
        <p:spPr>
          <a:xfrm>
            <a:off x="4095750" y="49911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1706C"/>
                </a:solidFill>
                <a:latin typeface="PingFang SC"/>
                <a:ea typeface="PingFang SC"/>
                <a:cs typeface="PingFang SC"/>
              </a:rPr>
              <a:t>LEAPS、PMCC、vertical spreads、参数扫描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552BA8-ADD3-4B12-8137-A85A0E07B6CF}"/>
              </a:ext>
            </a:extLst>
          </p:cNvPr>
          <p:cNvSpPr>
            <a:spLocks noGrp="1"/>
          </p:cNvSpPr>
          <p:nvPr/>
        </p:nvSpPr>
        <p:spPr>
          <a:xfrm>
            <a:off x="3505200" y="5715000"/>
            <a:ext cx="5143500" cy="266700"/>
          </a:xfrm>
          <a:prstGeom prst="rect">
            <a:avLst/>
          </a:prstGeom>
          <a:solidFill>
            <a:srgbClr val="111C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CAC823-132B-49A4-8E09-3FA830F5399F}"/>
              </a:ext>
            </a:extLst>
          </p:cNvPr>
          <p:cNvSpPr>
            <a:spLocks noGrp="1"/>
          </p:cNvSpPr>
          <p:nvPr/>
        </p:nvSpPr>
        <p:spPr>
          <a:xfrm>
            <a:off x="3619500" y="5772150"/>
            <a:ext cx="491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定位：研究与验证工具，不是交易信号承诺</a:t>
            </a:r>
          </a:p>
        </p:txBody>
      </p:sp>
    </p:spTree>
    <p:extLst>
      <p:ext uri="{BB962C8B-B14F-4D97-AF65-F5344CB8AC3E}">
        <p14:creationId xmlns:p14="http://schemas.microsoft.com/office/powerpoint/2010/main" val="19052684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Macintosh PowerPoint</Application>
  <DocSecurity>0</DocSecurity>
  <PresentationFormat>Widescreen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PingFang SC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2026-05-09T20:50:08Z</dcterms:created>
  <dcterms:modified xsi:type="dcterms:W3CDTF">2026-05-09T20:56:07Z</dcterms:modified>
</cp:coreProperties>
</file>