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0"/>
    <p:restoredTop sz="94668"/>
  </p:normalViewPr>
  <p:slideViewPr>
    <p:cSldViewPr snapToGrid="0">
      <p:cViewPr>
        <p:scale>
          <a:sx n="180" d="100"/>
          <a:sy n="180" d="100"/>
        </p:scale>
        <p:origin x="-1608" y="-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6DD6CC4-5CAC-40D4-8482-A0681BA050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22F034AB-93E4-4325-8CD5-3959F2F93541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PROJECT CONTEXT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6A49BDF2-298E-4913-B1F5-6D0B020E399B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A75145-ADC1-4B47-982B-E7F8EB100577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BRstock connects market data, analysis, and backtesting into one research loop.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251CD-4553-4E08-B2CF-C63E01660424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The project is less about one-off price calls and more about iterating trading hypotheses with data, indicators, AI-assisted analysis, and reproducible tests.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F4EE1-3AF3-44AD-8800-C03C69824EF6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57F34-5850-4219-97A2-E1C9CC9BFDF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01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D0470-1E79-44C4-9089-192E62E7B86C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Project 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87D977-7956-477C-8CCC-BB7B3C1A91CA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BB8ABD-27BF-43EB-9852-ADA882A07C71}"/>
              </a:ext>
            </a:extLst>
          </p:cNvPr>
          <p:cNvSpPr>
            <a:spLocks noGrp="1"/>
          </p:cNvSpPr>
          <p:nvPr/>
        </p:nvSpPr>
        <p:spPr>
          <a:xfrm>
            <a:off x="7572375" y="198120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DF6E2F-BEA2-470B-B215-ABF08961B0CF}"/>
              </a:ext>
            </a:extLst>
          </p:cNvPr>
          <p:cNvSpPr>
            <a:spLocks noGrp="1"/>
          </p:cNvSpPr>
          <p:nvPr/>
        </p:nvSpPr>
        <p:spPr>
          <a:xfrm>
            <a:off x="7572375" y="1981200"/>
            <a:ext cx="1238250" cy="47625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8B9A00-F295-4FC5-9638-F9F93513AF01}"/>
              </a:ext>
            </a:extLst>
          </p:cNvPr>
          <p:cNvSpPr>
            <a:spLocks noGrp="1"/>
          </p:cNvSpPr>
          <p:nvPr/>
        </p:nvSpPr>
        <p:spPr>
          <a:xfrm>
            <a:off x="7715250" y="22288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7A40E2-4495-41F1-AAD5-A2B544B6DD90}"/>
              </a:ext>
            </a:extLst>
          </p:cNvPr>
          <p:cNvSpPr>
            <a:spLocks noGrp="1"/>
          </p:cNvSpPr>
          <p:nvPr/>
        </p:nvSpPr>
        <p:spPr>
          <a:xfrm>
            <a:off x="8696325" y="310515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672670-831F-4590-B0E3-621620587B8B}"/>
              </a:ext>
            </a:extLst>
          </p:cNvPr>
          <p:cNvSpPr>
            <a:spLocks noGrp="1"/>
          </p:cNvSpPr>
          <p:nvPr/>
        </p:nvSpPr>
        <p:spPr>
          <a:xfrm>
            <a:off x="8696325" y="3105150"/>
            <a:ext cx="1238250" cy="47625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8A8F8B-A2EB-4A7D-B6E3-A4D02ED219AD}"/>
              </a:ext>
            </a:extLst>
          </p:cNvPr>
          <p:cNvSpPr>
            <a:spLocks noGrp="1"/>
          </p:cNvSpPr>
          <p:nvPr/>
        </p:nvSpPr>
        <p:spPr>
          <a:xfrm>
            <a:off x="8839200" y="3352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Indicators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F8640A-8690-45E9-AAFA-0C65F6ED9393}"/>
              </a:ext>
            </a:extLst>
          </p:cNvPr>
          <p:cNvSpPr>
            <a:spLocks noGrp="1"/>
          </p:cNvSpPr>
          <p:nvPr/>
        </p:nvSpPr>
        <p:spPr>
          <a:xfrm>
            <a:off x="7572375" y="422910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CE7BEB-A2E2-4FFC-8F03-9D207FE7B660}"/>
              </a:ext>
            </a:extLst>
          </p:cNvPr>
          <p:cNvSpPr>
            <a:spLocks noGrp="1"/>
          </p:cNvSpPr>
          <p:nvPr/>
        </p:nvSpPr>
        <p:spPr>
          <a:xfrm>
            <a:off x="7572375" y="4229100"/>
            <a:ext cx="1238250" cy="4762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0B9F73-D686-4A84-9AA4-540A2269E6D4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AI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1C4D1E-CD5C-46FB-91EA-69F236015FB5}"/>
              </a:ext>
            </a:extLst>
          </p:cNvPr>
          <p:cNvSpPr>
            <a:spLocks noGrp="1"/>
          </p:cNvSpPr>
          <p:nvPr/>
        </p:nvSpPr>
        <p:spPr>
          <a:xfrm>
            <a:off x="6448425" y="310515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CBAC24-0286-4BA9-9D75-737528191E3C}"/>
              </a:ext>
            </a:extLst>
          </p:cNvPr>
          <p:cNvSpPr>
            <a:spLocks noGrp="1"/>
          </p:cNvSpPr>
          <p:nvPr/>
        </p:nvSpPr>
        <p:spPr>
          <a:xfrm>
            <a:off x="6448425" y="3105150"/>
            <a:ext cx="1238250" cy="47625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DB668B-DB17-41B6-985C-7B81D1EE6B67}"/>
              </a:ext>
            </a:extLst>
          </p:cNvPr>
          <p:cNvSpPr>
            <a:spLocks noGrp="1"/>
          </p:cNvSpPr>
          <p:nvPr/>
        </p:nvSpPr>
        <p:spPr>
          <a:xfrm>
            <a:off x="6591300" y="3352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Backtest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E71D3A3-8FB3-4964-9F5F-A1C4D3B4EF21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1502084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176B5F"/>
            </a:solidFill>
          </a:ln>
        </p:spPr>
        <p:txBody>
          <a:bodyPr/>
          <a:p/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15299BF-76CD-40D3-8B9B-B9B83EC8AB12}"/>
              </a:ext>
            </a:extLst>
          </p:cNvPr>
          <p:cNvSpPr>
            <a:spLocks noGrp="1"/>
          </p:cNvSpPr>
          <p:nvPr/>
        </p:nvSpPr>
        <p:spPr>
          <a:xfrm>
            <a:off x="9239250" y="3429000"/>
            <a:ext cx="1529615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315F72"/>
            </a:solidFill>
          </a:ln>
        </p:spPr>
        <p:txBody>
          <a:bodyPr/>
          <a:p/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0A16C36-0845-4D01-8E30-9DFFFDF8DEDE}"/>
              </a:ext>
            </a:extLst>
          </p:cNvPr>
          <p:cNvSpPr>
            <a:spLocks noGrp="1"/>
          </p:cNvSpPr>
          <p:nvPr/>
        </p:nvSpPr>
        <p:spPr>
          <a:xfrm>
            <a:off x="8191500" y="4514850"/>
            <a:ext cx="1555961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B7791F"/>
            </a:solidFill>
          </a:ln>
        </p:spPr>
        <p:txBody>
          <a:bodyPr/>
          <a:p/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3D23EB7-5ADD-45EF-851F-016443658CC2}"/>
              </a:ext>
            </a:extLst>
          </p:cNvPr>
          <p:cNvSpPr>
            <a:spLocks noGrp="1"/>
          </p:cNvSpPr>
          <p:nvPr/>
        </p:nvSpPr>
        <p:spPr>
          <a:xfrm>
            <a:off x="7105650" y="3429000"/>
            <a:ext cx="1522213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9A4F3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0D63FB-249E-4966-95D1-295DDB42CE7E}"/>
              </a:ext>
            </a:extLst>
          </p:cNvPr>
          <p:cNvSpPr>
            <a:spLocks noGrp="1"/>
          </p:cNvSpPr>
          <p:nvPr/>
        </p:nvSpPr>
        <p:spPr>
          <a:xfrm>
            <a:off x="1047750" y="4810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6B5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76B5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58AB0B-D784-43F1-B529-651196A6A120}"/>
              </a:ext>
            </a:extLst>
          </p:cNvPr>
          <p:cNvSpPr>
            <a:spLocks noGrp="1"/>
          </p:cNvSpPr>
          <p:nvPr/>
        </p:nvSpPr>
        <p:spPr>
          <a:xfrm>
            <a:off x="1047750" y="52387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core workflows: data, indicators, AI, backtests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57FEA3-3E85-4461-B4E9-B0B2971EDC6E}"/>
              </a:ext>
            </a:extLst>
          </p:cNvPr>
          <p:cNvSpPr>
            <a:spLocks noGrp="1"/>
          </p:cNvSpPr>
          <p:nvPr/>
        </p:nvSpPr>
        <p:spPr>
          <a:xfrm>
            <a:off x="3048000" y="4810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B7791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ABBAFE-7AD2-49DF-9B9D-E1212B9572F6}"/>
              </a:ext>
            </a:extLst>
          </p:cNvPr>
          <p:cNvSpPr>
            <a:spLocks noGrp="1"/>
          </p:cNvSpPr>
          <p:nvPr/>
        </p:nvSpPr>
        <p:spPr>
          <a:xfrm>
            <a:off x="3048000" y="52387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research loop instead of scattered scripts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F8A6C6-79F3-4A01-B9C7-A333E7223C5F}"/>
              </a:ext>
            </a:extLst>
          </p:cNvPr>
          <p:cNvSpPr>
            <a:spLocks noGrp="1"/>
          </p:cNvSpPr>
          <p:nvPr/>
        </p:nvSpPr>
        <p:spPr>
          <a:xfrm>
            <a:off x="5191125" y="4810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315F72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315F72"/>
                </a:solidFill>
                <a:latin typeface="Georgia"/>
                <a:ea typeface="Georgia"/>
                <a:cs typeface="Georgia"/>
              </a:rPr>
              <a:t>Daily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1BEF30-8EE6-420D-8BCD-A8823185F653}"/>
              </a:ext>
            </a:extLst>
          </p:cNvPr>
          <p:cNvSpPr>
            <a:spLocks noGrp="1"/>
          </p:cNvSpPr>
          <p:nvPr/>
        </p:nvSpPr>
        <p:spPr>
          <a:xfrm>
            <a:off x="5191125" y="52387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first OptionSynth layer uses daily granularity</a:t>
            </a:r>
          </a:p>
        </p:txBody>
      </p:sp>
    </p:spTree>
    <p:extLst>
      <p:ext uri="{BB962C8B-B14F-4D97-AF65-F5344CB8AC3E}">
        <p14:creationId xmlns:p14="http://schemas.microsoft.com/office/powerpoint/2010/main" val="118495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2A3688E-8626-4D18-9F5A-DFAD10D6A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8B79C1FC-AD84-4923-B394-179B96959A8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SYSTEM SHAPE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BA212E4A-9BF3-40ED-A305-3C47D908A6DB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824FAE-A68C-44FB-BCD8-45BD029262B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The existing stack already has the infrastructure to extend into options research.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731F1-DF72-4FDE-A6C3-434243C6382C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Backend APIs, historical data, Web UI, Moomoo live integration, and backtest storage are in place; OptionSynth is an incremental module on top of that workflow.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7C472F-2A24-40A5-9F67-8A256C675D9C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F2E200-4054-420E-83D6-F768CCE4FC2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02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41EE3D-2039-4BA3-B54D-4BD6A4871C7A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Module boundary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933594-BD42-4847-96B0-745FF46F607E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FABE1-2BA3-484A-AA41-7833A1C19B54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80A811-95CA-4AD6-A856-BE1BB3FCB6AD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47625" cy="106680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F9D0-85FA-49A5-B9EE-F2A9CE5C00A1}"/>
              </a:ext>
            </a:extLst>
          </p:cNvPr>
          <p:cNvSpPr>
            <a:spLocks noGrp="1"/>
          </p:cNvSpPr>
          <p:nvPr/>
        </p:nvSpPr>
        <p:spPr>
          <a:xfrm>
            <a:off x="10477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Data pipeline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5493C7-4446-4F0D-ADFF-C6BE32985F46}"/>
              </a:ext>
            </a:extLst>
          </p:cNvPr>
          <p:cNvSpPr>
            <a:spLocks noGrp="1"/>
          </p:cNvSpPr>
          <p:nvPr/>
        </p:nvSpPr>
        <p:spPr>
          <a:xfrm>
            <a:off x="10477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Historical bars, updates, local/Neon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A60904A-AEED-419F-985C-D0EB0581F60A}"/>
              </a:ext>
            </a:extLst>
          </p:cNvPr>
          <p:cNvSpPr>
            <a:spLocks noGrp="1"/>
          </p:cNvSpPr>
          <p:nvPr/>
        </p:nvSpPr>
        <p:spPr>
          <a:xfrm>
            <a:off x="26193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378278-CDB0-485A-91D4-1AC7BB8B49A6}"/>
              </a:ext>
            </a:extLst>
          </p:cNvPr>
          <p:cNvSpPr>
            <a:spLocks noGrp="1"/>
          </p:cNvSpPr>
          <p:nvPr/>
        </p:nvSpPr>
        <p:spPr>
          <a:xfrm>
            <a:off x="29718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95B700-9B8C-4DAA-8EAF-2BD3A5C15A95}"/>
              </a:ext>
            </a:extLst>
          </p:cNvPr>
          <p:cNvSpPr>
            <a:spLocks noGrp="1"/>
          </p:cNvSpPr>
          <p:nvPr/>
        </p:nvSpPr>
        <p:spPr>
          <a:xfrm>
            <a:off x="2971800" y="3333750"/>
            <a:ext cx="47625" cy="106680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239DCF-F666-4DF7-9A1D-2EF722185DEB}"/>
              </a:ext>
            </a:extLst>
          </p:cNvPr>
          <p:cNvSpPr>
            <a:spLocks noGrp="1"/>
          </p:cNvSpPr>
          <p:nvPr/>
        </p:nvSpPr>
        <p:spPr>
          <a:xfrm>
            <a:off x="31432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Backend 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5B8EDF-6F99-4439-9871-A51F86C6D677}"/>
              </a:ext>
            </a:extLst>
          </p:cNvPr>
          <p:cNvSpPr>
            <a:spLocks noGrp="1"/>
          </p:cNvSpPr>
          <p:nvPr/>
        </p:nvSpPr>
        <p:spPr>
          <a:xfrm>
            <a:off x="31432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FastAPI, auth, strategy/options routes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2671E2F-3658-41C2-9E51-3AB1C9EACCBD}"/>
              </a:ext>
            </a:extLst>
          </p:cNvPr>
          <p:cNvSpPr>
            <a:spLocks noGrp="1"/>
          </p:cNvSpPr>
          <p:nvPr/>
        </p:nvSpPr>
        <p:spPr>
          <a:xfrm>
            <a:off x="47148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089B31-045E-483D-821E-991C99E72833}"/>
              </a:ext>
            </a:extLst>
          </p:cNvPr>
          <p:cNvSpPr>
            <a:spLocks noGrp="1"/>
          </p:cNvSpPr>
          <p:nvPr/>
        </p:nvSpPr>
        <p:spPr>
          <a:xfrm>
            <a:off x="50673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D63B6-7721-428C-BC83-BD2AF7E035A1}"/>
              </a:ext>
            </a:extLst>
          </p:cNvPr>
          <p:cNvSpPr>
            <a:spLocks noGrp="1"/>
          </p:cNvSpPr>
          <p:nvPr/>
        </p:nvSpPr>
        <p:spPr>
          <a:xfrm>
            <a:off x="5067300" y="3333750"/>
            <a:ext cx="47625" cy="10668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78EEFD-4A10-407B-B267-B0CDA20FB326}"/>
              </a:ext>
            </a:extLst>
          </p:cNvPr>
          <p:cNvSpPr>
            <a:spLocks noGrp="1"/>
          </p:cNvSpPr>
          <p:nvPr/>
        </p:nvSpPr>
        <p:spPr>
          <a:xfrm>
            <a:off x="52387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Analysis layer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51B082-8DFC-43C4-9838-A6039328B273}"/>
              </a:ext>
            </a:extLst>
          </p:cNvPr>
          <p:cNvSpPr>
            <a:spLocks noGrp="1"/>
          </p:cNvSpPr>
          <p:nvPr/>
        </p:nvSpPr>
        <p:spPr>
          <a:xfrm>
            <a:off x="52387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RSI/MACD/HV and AI reports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AB510A2C-090A-4647-983B-C0FE89DD1AAC}"/>
              </a:ext>
            </a:extLst>
          </p:cNvPr>
          <p:cNvSpPr>
            <a:spLocks noGrp="1"/>
          </p:cNvSpPr>
          <p:nvPr/>
        </p:nvSpPr>
        <p:spPr>
          <a:xfrm>
            <a:off x="68103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CB2CDE-AA11-415B-AECA-DF68EFEFAF3F}"/>
              </a:ext>
            </a:extLst>
          </p:cNvPr>
          <p:cNvSpPr>
            <a:spLocks noGrp="1"/>
          </p:cNvSpPr>
          <p:nvPr/>
        </p:nvSpPr>
        <p:spPr>
          <a:xfrm>
            <a:off x="71628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837038-6E03-4DB1-B4E3-112BB5E753F2}"/>
              </a:ext>
            </a:extLst>
          </p:cNvPr>
          <p:cNvSpPr>
            <a:spLocks noGrp="1"/>
          </p:cNvSpPr>
          <p:nvPr/>
        </p:nvSpPr>
        <p:spPr>
          <a:xfrm>
            <a:off x="7162800" y="3333750"/>
            <a:ext cx="47625" cy="106680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B5932F-D0E9-40AD-B60B-C3A062194794}"/>
              </a:ext>
            </a:extLst>
          </p:cNvPr>
          <p:cNvSpPr>
            <a:spLocks noGrp="1"/>
          </p:cNvSpPr>
          <p:nvPr/>
        </p:nvSpPr>
        <p:spPr>
          <a:xfrm>
            <a:off x="73342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Web UI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29A6C-99F1-4A75-8AD2-A0FDA0EBE8C1}"/>
              </a:ext>
            </a:extLst>
          </p:cNvPr>
          <p:cNvSpPr>
            <a:spLocks noGrp="1"/>
          </p:cNvSpPr>
          <p:nvPr/>
        </p:nvSpPr>
        <p:spPr>
          <a:xfrm>
            <a:off x="73342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Charts, parameters, result panels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877198DC-7544-44B6-B41E-8A1092752E0D}"/>
              </a:ext>
            </a:extLst>
          </p:cNvPr>
          <p:cNvSpPr>
            <a:spLocks noGrp="1"/>
          </p:cNvSpPr>
          <p:nvPr/>
        </p:nvSpPr>
        <p:spPr>
          <a:xfrm>
            <a:off x="89058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13ABFF-44A4-4280-A709-23DBCF5359A9}"/>
              </a:ext>
            </a:extLst>
          </p:cNvPr>
          <p:cNvSpPr>
            <a:spLocks noGrp="1"/>
          </p:cNvSpPr>
          <p:nvPr/>
        </p:nvSpPr>
        <p:spPr>
          <a:xfrm>
            <a:off x="92583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3546BA-C295-4EBC-82F8-0391C3820EB7}"/>
              </a:ext>
            </a:extLst>
          </p:cNvPr>
          <p:cNvSpPr>
            <a:spLocks noGrp="1"/>
          </p:cNvSpPr>
          <p:nvPr/>
        </p:nvSpPr>
        <p:spPr>
          <a:xfrm>
            <a:off x="9258300" y="3333750"/>
            <a:ext cx="47625" cy="106680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3486FC-01A1-4819-BC09-68D73FFCC686}"/>
              </a:ext>
            </a:extLst>
          </p:cNvPr>
          <p:cNvSpPr>
            <a:spLocks noGrp="1"/>
          </p:cNvSpPr>
          <p:nvPr/>
        </p:nvSpPr>
        <p:spPr>
          <a:xfrm>
            <a:off x="94297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Backtest storage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81714F-7C02-4DA0-8288-18DDD753E9A1}"/>
              </a:ext>
            </a:extLst>
          </p:cNvPr>
          <p:cNvSpPr>
            <a:spLocks noGrp="1"/>
          </p:cNvSpPr>
          <p:nvPr/>
        </p:nvSpPr>
        <p:spPr>
          <a:xfrm>
            <a:off x="94297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Parameter snapshots, trades, equity curves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00D9CF-4CA4-43A2-A6E1-593036C0EFEB}"/>
              </a:ext>
            </a:extLst>
          </p:cNvPr>
          <p:cNvSpPr>
            <a:spLocks noGrp="1"/>
          </p:cNvSpPr>
          <p:nvPr/>
        </p:nvSpPr>
        <p:spPr>
          <a:xfrm>
            <a:off x="4095750" y="4810125"/>
            <a:ext cx="4238625" cy="266700"/>
          </a:xfrm>
          <a:prstGeom prst="rect">
            <a:avLst/>
          </a:prstGeom>
          <a:solidFill>
            <a:srgbClr val="111C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D91C54-D2FE-4CB5-BC0D-F670814FCFEF}"/>
              </a:ext>
            </a:extLst>
          </p:cNvPr>
          <p:cNvSpPr>
            <a:spLocks noGrp="1"/>
          </p:cNvSpPr>
          <p:nvPr/>
        </p:nvSpPr>
        <p:spPr>
          <a:xfrm>
            <a:off x="4210050" y="4867275"/>
            <a:ext cx="4010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OptionSynth insertion point: reuse daily data and backtest framework</a:t>
            </a:r>
          </a:p>
        </p:txBody>
      </p:sp>
    </p:spTree>
    <p:extLst>
      <p:ext uri="{BB962C8B-B14F-4D97-AF65-F5344CB8AC3E}">
        <p14:creationId xmlns:p14="http://schemas.microsoft.com/office/powerpoint/2010/main" val="6181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CB32F81-AFCF-4E82-A43A-9E4ACB3E7E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D76E632-958F-4F51-B342-0206D7CD256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DATA GAP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D9705DC8-F8EA-4DA2-B0B3-94A0F63CCC2D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13F67-17DE-4EFF-97FC-7B8FD0790E8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For options strategies, the first bottleneck is chain data, not strategy code.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FC57D-B05B-4526-8DE1-A26E1AB9B3F3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Full historical option chains are expensive and too large for the current stage. BRstock now uses Schwab live-chain snapshots as calibration samples, while synthetic chains remain the replayable research layer.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6F531-F3BB-47B2-93E6-712EFF7B8930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DEC69-823C-4AE0-A852-54ECFDEE5A2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03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776AB4-9F90-4EBC-A84A-00827F8BC00D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Problem definition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2190C1-EF2B-406C-A0E0-2C60DAE5DA2F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2412C-84BF-4963-935F-D6D141B43F0D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9429750" cy="323850"/>
          </a:xfrm>
          <a:prstGeom prst="rect">
            <a:avLst/>
          </a:prstGeom>
          <a:solidFill>
            <a:srgbClr val="111C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6005D7-B996-4CFF-A62D-AA8E3D1710F9}"/>
              </a:ext>
            </a:extLst>
          </p:cNvPr>
          <p:cNvSpPr>
            <a:spLocks noGrp="1"/>
          </p:cNvSpPr>
          <p:nvPr/>
        </p:nvSpPr>
        <p:spPr>
          <a:xfrm>
            <a:off x="1333500" y="2943225"/>
            <a:ext cx="278892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Constraint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9F1015-E35D-4A21-A59D-1F7E212BAF4B}"/>
              </a:ext>
            </a:extLst>
          </p:cNvPr>
          <p:cNvSpPr>
            <a:spLocks noGrp="1"/>
          </p:cNvSpPr>
          <p:nvPr/>
        </p:nvSpPr>
        <p:spPr>
          <a:xfrm>
            <a:off x="4351020" y="2943225"/>
            <a:ext cx="297751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Impact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CAE5D6-1CBD-4783-9608-06AB1F6C79E1}"/>
              </a:ext>
            </a:extLst>
          </p:cNvPr>
          <p:cNvSpPr>
            <a:spLocks noGrp="1"/>
          </p:cNvSpPr>
          <p:nvPr/>
        </p:nvSpPr>
        <p:spPr>
          <a:xfrm>
            <a:off x="7557135" y="2943225"/>
            <a:ext cx="297751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Design response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99517C-BD8F-4EBA-8D75-97E9AEC663A2}"/>
              </a:ext>
            </a:extLst>
          </p:cNvPr>
          <p:cNvSpPr>
            <a:spLocks noGrp="1"/>
          </p:cNvSpPr>
          <p:nvPr/>
        </p:nvSpPr>
        <p:spPr>
          <a:xfrm>
            <a:off x="1219200" y="3181350"/>
            <a:ext cx="9429750" cy="666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64DD7A-A9EA-4DE3-8364-9A36521E841F}"/>
              </a:ext>
            </a:extLst>
          </p:cNvPr>
          <p:cNvSpPr>
            <a:spLocks noGrp="1"/>
          </p:cNvSpPr>
          <p:nvPr/>
        </p:nvSpPr>
        <p:spPr>
          <a:xfrm>
            <a:off x="4236720" y="31813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17F667-5EF7-46FE-9F2E-66725456347B}"/>
              </a:ext>
            </a:extLst>
          </p:cNvPr>
          <p:cNvSpPr>
            <a:spLocks noGrp="1"/>
          </p:cNvSpPr>
          <p:nvPr/>
        </p:nvSpPr>
        <p:spPr>
          <a:xfrm>
            <a:off x="7442835" y="31813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DD4385-D42C-4837-A42F-BA6ADD42033E}"/>
              </a:ext>
            </a:extLst>
          </p:cNvPr>
          <p:cNvSpPr>
            <a:spLocks noGrp="1"/>
          </p:cNvSpPr>
          <p:nvPr/>
        </p:nvSpPr>
        <p:spPr>
          <a:xfrm>
            <a:off x="1333500" y="335280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Historical chains are costly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76A894-09A2-44C2-800A-78A3440E2F21}"/>
              </a:ext>
            </a:extLst>
          </p:cNvPr>
          <p:cNvSpPr>
            <a:spLocks noGrp="1"/>
          </p:cNvSpPr>
          <p:nvPr/>
        </p:nvSpPr>
        <p:spPr>
          <a:xfrm>
            <a:off x="4351020" y="33528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Hard to cover years, tickers, expiries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14B20E-02FC-4E4C-B524-B66EBB1E5E16}"/>
              </a:ext>
            </a:extLst>
          </p:cNvPr>
          <p:cNvSpPr>
            <a:spLocks noGrp="1"/>
          </p:cNvSpPr>
          <p:nvPr/>
        </p:nvSpPr>
        <p:spPr>
          <a:xfrm>
            <a:off x="7557135" y="33528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Use synthetic chains for research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758AF1-1D9A-4CF2-8B29-02043DDCDD59}"/>
              </a:ext>
            </a:extLst>
          </p:cNvPr>
          <p:cNvSpPr>
            <a:spLocks noGrp="1"/>
          </p:cNvSpPr>
          <p:nvPr/>
        </p:nvSpPr>
        <p:spPr>
          <a:xfrm>
            <a:off x="1219200" y="3848100"/>
            <a:ext cx="9429750" cy="666750"/>
          </a:xfrm>
          <a:prstGeom prst="rect">
            <a:avLst/>
          </a:prstGeom>
          <a:solidFill>
            <a:srgbClr val="FB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5162CC-80EF-4AD7-87A2-90720450443E}"/>
              </a:ext>
            </a:extLst>
          </p:cNvPr>
          <p:cNvSpPr>
            <a:spLocks noGrp="1"/>
          </p:cNvSpPr>
          <p:nvPr/>
        </p:nvSpPr>
        <p:spPr>
          <a:xfrm>
            <a:off x="4236720" y="38481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F513BA-B126-4D04-88C3-7839C0061414}"/>
              </a:ext>
            </a:extLst>
          </p:cNvPr>
          <p:cNvSpPr>
            <a:spLocks noGrp="1"/>
          </p:cNvSpPr>
          <p:nvPr/>
        </p:nvSpPr>
        <p:spPr>
          <a:xfrm>
            <a:off x="7442835" y="38481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DF037F-044F-4B27-8F70-3EF9D27E04F7}"/>
              </a:ext>
            </a:extLst>
          </p:cNvPr>
          <p:cNvSpPr>
            <a:spLocks noGrp="1"/>
          </p:cNvSpPr>
          <p:nvPr/>
        </p:nvSpPr>
        <p:spPr>
          <a:xfrm>
            <a:off x="1333500" y="401955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Chain volume is large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16E4E0-AED9-49E7-8059-30C88280CF48}"/>
              </a:ext>
            </a:extLst>
          </p:cNvPr>
          <p:cNvSpPr>
            <a:spLocks noGrp="1"/>
          </p:cNvSpPr>
          <p:nvPr/>
        </p:nvSpPr>
        <p:spPr>
          <a:xfrm>
            <a:off x="4351020" y="40195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Full history grows quickly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C6D1FB-292A-41E5-BFAC-9234B7B51060}"/>
              </a:ext>
            </a:extLst>
          </p:cNvPr>
          <p:cNvSpPr>
            <a:spLocks noGrp="1"/>
          </p:cNvSpPr>
          <p:nvPr/>
        </p:nvSpPr>
        <p:spPr>
          <a:xfrm>
            <a:off x="7557135" y="40195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Generate on demand, avoid chain storage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7A17C3-832C-4BA2-877E-7CB1B417F0F0}"/>
              </a:ext>
            </a:extLst>
          </p:cNvPr>
          <p:cNvSpPr>
            <a:spLocks noGrp="1"/>
          </p:cNvSpPr>
          <p:nvPr/>
        </p:nvSpPr>
        <p:spPr>
          <a:xfrm>
            <a:off x="1219200" y="4514850"/>
            <a:ext cx="9429750" cy="666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0CC398-09A4-4C3B-8AAE-D9FBA1CF3390}"/>
              </a:ext>
            </a:extLst>
          </p:cNvPr>
          <p:cNvSpPr>
            <a:spLocks noGrp="1"/>
          </p:cNvSpPr>
          <p:nvPr/>
        </p:nvSpPr>
        <p:spPr>
          <a:xfrm>
            <a:off x="4236720" y="45148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0C09D9-4A77-432F-A092-769E84F09739}"/>
              </a:ext>
            </a:extLst>
          </p:cNvPr>
          <p:cNvSpPr>
            <a:spLocks noGrp="1"/>
          </p:cNvSpPr>
          <p:nvPr/>
        </p:nvSpPr>
        <p:spPr>
          <a:xfrm>
            <a:off x="7442835" y="45148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CE4684-E25C-4A2B-A141-60260B3211D8}"/>
              </a:ext>
            </a:extLst>
          </p:cNvPr>
          <p:cNvSpPr>
            <a:spLocks noGrp="1"/>
          </p:cNvSpPr>
          <p:nvPr/>
        </p:nvSpPr>
        <p:spPr>
          <a:xfrm>
            <a:off x="1333500" y="468630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Live feeds are fragile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10FC6D-E7DC-4872-8CB6-8A55124CA270}"/>
              </a:ext>
            </a:extLst>
          </p:cNvPr>
          <p:cNvSpPr>
            <a:spLocks noGrp="1"/>
          </p:cNvSpPr>
          <p:nvPr/>
        </p:nvSpPr>
        <p:spPr>
          <a:xfrm>
            <a:off x="4351020" y="46863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SMS/connectivity interrupts collection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D7A35B-33F6-4186-BD9B-DF1DF89F917B}"/>
              </a:ext>
            </a:extLst>
          </p:cNvPr>
          <p:cNvSpPr>
            <a:spLocks noGrp="1"/>
          </p:cNvSpPr>
          <p:nvPr/>
        </p:nvSpPr>
        <p:spPr>
          <a:xfrm>
            <a:off x="7557135" y="46863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Keep Moomoo, decouple backtests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3D3915-9B16-41B6-B883-7122AC4EDF76}"/>
              </a:ext>
            </a:extLst>
          </p:cNvPr>
          <p:cNvSpPr>
            <a:spLocks noGrp="1"/>
          </p:cNvSpPr>
          <p:nvPr/>
        </p:nvSpPr>
        <p:spPr>
          <a:xfrm>
            <a:off x="1219200" y="5181600"/>
            <a:ext cx="9429750" cy="666750"/>
          </a:xfrm>
          <a:prstGeom prst="rect">
            <a:avLst/>
          </a:prstGeom>
          <a:solidFill>
            <a:srgbClr val="FB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8DF0B7-749E-4859-B1E4-5CBC96163B6B}"/>
              </a:ext>
            </a:extLst>
          </p:cNvPr>
          <p:cNvSpPr>
            <a:spLocks noGrp="1"/>
          </p:cNvSpPr>
          <p:nvPr/>
        </p:nvSpPr>
        <p:spPr>
          <a:xfrm>
            <a:off x="4236720" y="51816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8492AE-48FF-4603-8E8C-0286FDFA23AE}"/>
              </a:ext>
            </a:extLst>
          </p:cNvPr>
          <p:cNvSpPr>
            <a:spLocks noGrp="1"/>
          </p:cNvSpPr>
          <p:nvPr/>
        </p:nvSpPr>
        <p:spPr>
          <a:xfrm>
            <a:off x="7442835" y="51816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9AC25B-A103-48C9-AC3E-7EFF014852B7}"/>
              </a:ext>
            </a:extLst>
          </p:cNvPr>
          <p:cNvSpPr>
            <a:spLocks noGrp="1"/>
          </p:cNvSpPr>
          <p:nvPr/>
        </p:nvSpPr>
        <p:spPr>
          <a:xfrm>
            <a:off x="1333500" y="535305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Strategies need long horizons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10478C-0190-4AFB-8E76-1F18C954FB10}"/>
              </a:ext>
            </a:extLst>
          </p:cNvPr>
          <p:cNvSpPr>
            <a:spLocks noGrp="1"/>
          </p:cNvSpPr>
          <p:nvPr/>
        </p:nvSpPr>
        <p:spPr>
          <a:xfrm>
            <a:off x="4351020" y="53530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WHEELS/LEAPS span monthly states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05ACEF-33D5-427C-8FC7-F7263F3EDF83}"/>
              </a:ext>
            </a:extLst>
          </p:cNvPr>
          <p:cNvSpPr>
            <a:spLocks noGrp="1"/>
          </p:cNvSpPr>
          <p:nvPr/>
        </p:nvSpPr>
        <p:spPr>
          <a:xfrm>
            <a:off x="7557135" y="53530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Daily replay plus state machines</a:t>
            </a:r>
          </a:p>
        </p:txBody>
      </p:sp>
    </p:spTree>
    <p:extLst>
      <p:ext uri="{BB962C8B-B14F-4D97-AF65-F5344CB8AC3E}">
        <p14:creationId xmlns:p14="http://schemas.microsoft.com/office/powerpoint/2010/main" val="98707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AABB490D-879F-423D-B9A7-28F705B38B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363BF2CD-720E-451E-BD88-B4DAC09249D1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SYNTHESIS PIPELINE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64AF57E7-0278-4316-8B89-15C6D2883D11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0CB3EE-EC9D-470C-A89F-55006967037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OptionSynth turns daily equity data into explainable simulated option chains.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4FFDF9-2A28-4DDE-97A0-6E62978CA430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Historical volatility, RSI sentiment, moneyness skew, Black-Scholes pricing, and Schwab-derived calibration buckets generate calls, puts, bid/ask spreads, and Greeks across strikes and expiries.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E713D-BD49-4B49-A462-119383EBFFDF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6A66E-A915-485E-8E79-50E86044D3E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04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BA0282-6D5F-4F7B-BF07-40C3D6DF0FF9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Generation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3E88C4-5BFD-4511-91D5-EFFF8E9D3368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F34559-67CF-4DC0-BC4A-3E404C78495B}"/>
              </a:ext>
            </a:extLst>
          </p:cNvPr>
          <p:cNvSpPr>
            <a:spLocks noGrp="1"/>
          </p:cNvSpPr>
          <p:nvPr/>
        </p:nvSpPr>
        <p:spPr>
          <a:xfrm>
            <a:off x="8382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CB401-244C-431C-8433-2DA751A82630}"/>
              </a:ext>
            </a:extLst>
          </p:cNvPr>
          <p:cNvSpPr>
            <a:spLocks noGrp="1"/>
          </p:cNvSpPr>
          <p:nvPr/>
        </p:nvSpPr>
        <p:spPr>
          <a:xfrm>
            <a:off x="838200" y="3286125"/>
            <a:ext cx="47625" cy="8572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ACA12-99A1-42BC-81EC-765FA1D8D17F}"/>
              </a:ext>
            </a:extLst>
          </p:cNvPr>
          <p:cNvSpPr>
            <a:spLocks noGrp="1"/>
          </p:cNvSpPr>
          <p:nvPr/>
        </p:nvSpPr>
        <p:spPr>
          <a:xfrm>
            <a:off x="10096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Daily OHLCV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B563EF-E2D3-4299-96F1-67775EAD92AC}"/>
              </a:ext>
            </a:extLst>
          </p:cNvPr>
          <p:cNvSpPr>
            <a:spLocks noGrp="1"/>
          </p:cNvSpPr>
          <p:nvPr/>
        </p:nvSpPr>
        <p:spPr>
          <a:xfrm>
            <a:off x="10096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spot, returns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474B0F0-C20B-4663-9BA8-0DEE77D83412}"/>
              </a:ext>
            </a:extLst>
          </p:cNvPr>
          <p:cNvSpPr>
            <a:spLocks noGrp="1"/>
          </p:cNvSpPr>
          <p:nvPr/>
        </p:nvSpPr>
        <p:spPr>
          <a:xfrm>
            <a:off x="24955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2C86F4-3A06-4CAF-9E2A-CE5E4E0E5ACB}"/>
              </a:ext>
            </a:extLst>
          </p:cNvPr>
          <p:cNvSpPr>
            <a:spLocks noGrp="1"/>
          </p:cNvSpPr>
          <p:nvPr/>
        </p:nvSpPr>
        <p:spPr>
          <a:xfrm>
            <a:off x="28956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F8C6-56AE-4938-B6E1-BF8F40C0FB79}"/>
              </a:ext>
            </a:extLst>
          </p:cNvPr>
          <p:cNvSpPr>
            <a:spLocks noGrp="1"/>
          </p:cNvSpPr>
          <p:nvPr/>
        </p:nvSpPr>
        <p:spPr>
          <a:xfrm>
            <a:off x="2895600" y="3286125"/>
            <a:ext cx="47625" cy="85725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08D5D-D7AF-46A3-A973-A285B024516F}"/>
              </a:ext>
            </a:extLst>
          </p:cNvPr>
          <p:cNvSpPr>
            <a:spLocks noGrp="1"/>
          </p:cNvSpPr>
          <p:nvPr/>
        </p:nvSpPr>
        <p:spPr>
          <a:xfrm>
            <a:off x="30670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Indicators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575322-C01B-46BB-A60D-AF8C481C3F86}"/>
              </a:ext>
            </a:extLst>
          </p:cNvPr>
          <p:cNvSpPr>
            <a:spLocks noGrp="1"/>
          </p:cNvSpPr>
          <p:nvPr/>
        </p:nvSpPr>
        <p:spPr>
          <a:xfrm>
            <a:off x="30670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RSI + 20d HV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67CFF8B-4780-4841-BA9C-FC15BC650529}"/>
              </a:ext>
            </a:extLst>
          </p:cNvPr>
          <p:cNvSpPr>
            <a:spLocks noGrp="1"/>
          </p:cNvSpPr>
          <p:nvPr/>
        </p:nvSpPr>
        <p:spPr>
          <a:xfrm>
            <a:off x="45529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83B3C0-D984-412F-88B0-C5B68DC3CE21}"/>
              </a:ext>
            </a:extLst>
          </p:cNvPr>
          <p:cNvSpPr>
            <a:spLocks noGrp="1"/>
          </p:cNvSpPr>
          <p:nvPr/>
        </p:nvSpPr>
        <p:spPr>
          <a:xfrm>
            <a:off x="49530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F4BF1F-C298-4B81-8647-DCC1F1367920}"/>
              </a:ext>
            </a:extLst>
          </p:cNvPr>
          <p:cNvSpPr>
            <a:spLocks noGrp="1"/>
          </p:cNvSpPr>
          <p:nvPr/>
        </p:nvSpPr>
        <p:spPr>
          <a:xfrm>
            <a:off x="4953000" y="3286125"/>
            <a:ext cx="47625" cy="8572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3EDD88-1CC2-4FCB-BFCA-7F8EEAC9F482}"/>
              </a:ext>
            </a:extLst>
          </p:cNvPr>
          <p:cNvSpPr>
            <a:spLocks noGrp="1"/>
          </p:cNvSpPr>
          <p:nvPr/>
        </p:nvSpPr>
        <p:spPr>
          <a:xfrm>
            <a:off x="51244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Synthetic IV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28EAF9-7A9B-43B7-86C3-478E12601D46}"/>
              </a:ext>
            </a:extLst>
          </p:cNvPr>
          <p:cNvSpPr>
            <a:spLocks noGrp="1"/>
          </p:cNvSpPr>
          <p:nvPr/>
        </p:nvSpPr>
        <p:spPr>
          <a:xfrm>
            <a:off x="51244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sentiment × skew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0E749AC-CB03-4D63-8FC9-ED62CA7F1B59}"/>
              </a:ext>
            </a:extLst>
          </p:cNvPr>
          <p:cNvSpPr>
            <a:spLocks noGrp="1"/>
          </p:cNvSpPr>
          <p:nvPr/>
        </p:nvSpPr>
        <p:spPr>
          <a:xfrm>
            <a:off x="66103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8D263B-E4F7-4DC0-9B23-D11A81CE7CED}"/>
              </a:ext>
            </a:extLst>
          </p:cNvPr>
          <p:cNvSpPr>
            <a:spLocks noGrp="1"/>
          </p:cNvSpPr>
          <p:nvPr/>
        </p:nvSpPr>
        <p:spPr>
          <a:xfrm>
            <a:off x="70104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A59324-951C-47F5-B8B4-FCD7DEBDAFC1}"/>
              </a:ext>
            </a:extLst>
          </p:cNvPr>
          <p:cNvSpPr>
            <a:spLocks noGrp="1"/>
          </p:cNvSpPr>
          <p:nvPr/>
        </p:nvSpPr>
        <p:spPr>
          <a:xfrm>
            <a:off x="7010400" y="3286125"/>
            <a:ext cx="47625" cy="8572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6E005E-864F-4EEF-98D3-45317709D9E1}"/>
              </a:ext>
            </a:extLst>
          </p:cNvPr>
          <p:cNvSpPr>
            <a:spLocks noGrp="1"/>
          </p:cNvSpPr>
          <p:nvPr/>
        </p:nvSpPr>
        <p:spPr>
          <a:xfrm>
            <a:off x="71818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B-S pricing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691163-B19F-4D20-A05B-86FE6EC8A0C5}"/>
              </a:ext>
            </a:extLst>
          </p:cNvPr>
          <p:cNvSpPr>
            <a:spLocks noGrp="1"/>
          </p:cNvSpPr>
          <p:nvPr/>
        </p:nvSpPr>
        <p:spPr>
          <a:xfrm>
            <a:off x="71818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premium + Greeks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5C2CBA09-5E67-4B2A-801D-3B5D1ADA902A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8D71EA-5FDA-42D5-A179-718B90A0DB0A}"/>
              </a:ext>
            </a:extLst>
          </p:cNvPr>
          <p:cNvSpPr>
            <a:spLocks noGrp="1"/>
          </p:cNvSpPr>
          <p:nvPr/>
        </p:nvSpPr>
        <p:spPr>
          <a:xfrm>
            <a:off x="90678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C09A6A-3FEA-44F5-86DE-9642C56B4692}"/>
              </a:ext>
            </a:extLst>
          </p:cNvPr>
          <p:cNvSpPr>
            <a:spLocks noGrp="1"/>
          </p:cNvSpPr>
          <p:nvPr/>
        </p:nvSpPr>
        <p:spPr>
          <a:xfrm>
            <a:off x="9067800" y="3286125"/>
            <a:ext cx="47625" cy="8572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1E0E90-7559-4243-8BEA-0F42DDCE9A6A}"/>
              </a:ext>
            </a:extLst>
          </p:cNvPr>
          <p:cNvSpPr>
            <a:spLocks noGrp="1"/>
          </p:cNvSpPr>
          <p:nvPr/>
        </p:nvSpPr>
        <p:spPr>
          <a:xfrm>
            <a:off x="92392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Option Chain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8409C6-D692-4DE4-89A3-13C08EC31C9C}"/>
              </a:ext>
            </a:extLst>
          </p:cNvPr>
          <p:cNvSpPr>
            <a:spLocks noGrp="1"/>
          </p:cNvSpPr>
          <p:nvPr/>
        </p:nvSpPr>
        <p:spPr>
          <a:xfrm>
            <a:off x="92392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strike × DTE × type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9CACEE-7D0F-4731-BBB9-B3D6CAC37787}"/>
              </a:ext>
            </a:extLst>
          </p:cNvPr>
          <p:cNvSpPr>
            <a:spLocks noGrp="1"/>
          </p:cNvSpPr>
          <p:nvPr/>
        </p:nvSpPr>
        <p:spPr>
          <a:xfrm>
            <a:off x="2095500" y="4619625"/>
            <a:ext cx="781050" cy="438150"/>
          </a:xfrm>
          <a:prstGeom prst="rect">
            <a:avLst/>
          </a:prstGeom>
          <a:solidFill>
            <a:srgbClr val="FBF8F1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BBD92F-C45D-4378-8E17-4013BB59BAED}"/>
              </a:ext>
            </a:extLst>
          </p:cNvPr>
          <p:cNvSpPr>
            <a:spLocks noGrp="1"/>
          </p:cNvSpPr>
          <p:nvPr/>
        </p:nvSpPr>
        <p:spPr>
          <a:xfrm>
            <a:off x="209550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30d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0BC852-F2D6-43EC-B92B-1438C4DAB814}"/>
              </a:ext>
            </a:extLst>
          </p:cNvPr>
          <p:cNvSpPr>
            <a:spLocks noGrp="1"/>
          </p:cNvSpPr>
          <p:nvPr/>
        </p:nvSpPr>
        <p:spPr>
          <a:xfrm>
            <a:off x="3257550" y="4619625"/>
            <a:ext cx="7810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E40095-11FF-4C02-8887-731441F0A043}"/>
              </a:ext>
            </a:extLst>
          </p:cNvPr>
          <p:cNvSpPr>
            <a:spLocks noGrp="1"/>
          </p:cNvSpPr>
          <p:nvPr/>
        </p:nvSpPr>
        <p:spPr>
          <a:xfrm>
            <a:off x="325755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45d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308128-C4A5-4720-BB8E-3E563785456B}"/>
              </a:ext>
            </a:extLst>
          </p:cNvPr>
          <p:cNvSpPr>
            <a:spLocks noGrp="1"/>
          </p:cNvSpPr>
          <p:nvPr/>
        </p:nvSpPr>
        <p:spPr>
          <a:xfrm>
            <a:off x="4419600" y="4619625"/>
            <a:ext cx="781050" cy="438150"/>
          </a:xfrm>
          <a:prstGeom prst="rect">
            <a:avLst/>
          </a:prstGeom>
          <a:solidFill>
            <a:srgbClr val="FBF8F1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12E596-80DB-45EE-AE70-0F2D47DE8472}"/>
              </a:ext>
            </a:extLst>
          </p:cNvPr>
          <p:cNvSpPr>
            <a:spLocks noGrp="1"/>
          </p:cNvSpPr>
          <p:nvPr/>
        </p:nvSpPr>
        <p:spPr>
          <a:xfrm>
            <a:off x="441960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15F7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15F72"/>
                </a:solidFill>
                <a:latin typeface="Avenir Next"/>
                <a:ea typeface="Avenir Next"/>
                <a:cs typeface="Avenir Next"/>
              </a:rPr>
              <a:t>90d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D2A406-9FEC-49FA-9C25-6F297212D4F0}"/>
              </a:ext>
            </a:extLst>
          </p:cNvPr>
          <p:cNvSpPr>
            <a:spLocks noGrp="1"/>
          </p:cNvSpPr>
          <p:nvPr/>
        </p:nvSpPr>
        <p:spPr>
          <a:xfrm>
            <a:off x="5581650" y="4619625"/>
            <a:ext cx="7810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373FC3E-F8C4-4360-AC51-DC183322B157}"/>
              </a:ext>
            </a:extLst>
          </p:cNvPr>
          <p:cNvSpPr>
            <a:spLocks noGrp="1"/>
          </p:cNvSpPr>
          <p:nvPr/>
        </p:nvSpPr>
        <p:spPr>
          <a:xfrm>
            <a:off x="558165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15F7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15F72"/>
                </a:solidFill>
                <a:latin typeface="Avenir Next"/>
                <a:ea typeface="Avenir Next"/>
                <a:cs typeface="Avenir Next"/>
              </a:rPr>
              <a:t>180d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2B8209-7E69-47F1-A02C-F9F0F36ACA2F}"/>
              </a:ext>
            </a:extLst>
          </p:cNvPr>
          <p:cNvSpPr>
            <a:spLocks noGrp="1"/>
          </p:cNvSpPr>
          <p:nvPr/>
        </p:nvSpPr>
        <p:spPr>
          <a:xfrm>
            <a:off x="6743700" y="4619625"/>
            <a:ext cx="781050" cy="438150"/>
          </a:xfrm>
          <a:prstGeom prst="rect">
            <a:avLst/>
          </a:prstGeom>
          <a:solidFill>
            <a:srgbClr val="FBF8F1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6EE679-FA6F-4128-87A3-53087EB4DBD1}"/>
              </a:ext>
            </a:extLst>
          </p:cNvPr>
          <p:cNvSpPr>
            <a:spLocks noGrp="1"/>
          </p:cNvSpPr>
          <p:nvPr/>
        </p:nvSpPr>
        <p:spPr>
          <a:xfrm>
            <a:off x="674370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15F7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15F72"/>
                </a:solidFill>
                <a:latin typeface="Avenir Next"/>
                <a:ea typeface="Avenir Next"/>
                <a:cs typeface="Avenir Next"/>
              </a:rPr>
              <a:t>365d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FA2F183-FCB3-4EE5-A2E6-7657CD919A8F}"/>
              </a:ext>
            </a:extLst>
          </p:cNvPr>
          <p:cNvSpPr>
            <a:spLocks noGrp="1"/>
          </p:cNvSpPr>
          <p:nvPr/>
        </p:nvSpPr>
        <p:spPr>
          <a:xfrm>
            <a:off x="2381250" y="5191125"/>
            <a:ext cx="581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Expiry set supports short premium strategies and long-dated LEAPS research</a:t>
            </a:r>
          </a:p>
        </p:txBody>
      </p:sp>
    </p:spTree>
    <p:extLst>
      <p:ext uri="{BB962C8B-B14F-4D97-AF65-F5344CB8AC3E}">
        <p14:creationId xmlns:p14="http://schemas.microsoft.com/office/powerpoint/2010/main" val="181747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DDDF1CD8-EB84-463B-A20D-0A9163B9F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A896AFA-CB5C-4ECE-B75B-525A25875D7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IV MODEL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81095851-333F-4E52-A43A-E0061B532FB6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894AE-38CF-4DDF-8095-EBD7B26B0275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Synthetic IV starts as a transparent, calibratable proxy for market stress.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75D574-A620-46B3-B6DE-E649EDC37AB3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Synthetic IV starts as 20d HV × RSI sentiment multiplier × skew factor. Calibration then adjusts IV, mid price, spread, and delta by symbol, DTE, option type, and delta bucket.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A59AD-34FF-46FF-8272-0D28D587D97F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59B787-240D-41E0-BECD-F34C68F3EFF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05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E4FA9A-24AB-456B-82E2-E2AC89B16C38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Model trade-off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70822D-F577-4C8A-8D5A-4D67A36747BB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</a:t>
            </a:r>
            <a:r>
              <a:rPr lang="en-US"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1</a:t>
            </a: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9BD552-BDAB-4F13-8ACB-D3EF8E125D12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590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C1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C1A"/>
                </a:solidFill>
                <a:latin typeface="Georgia"/>
                <a:ea typeface="Georgia"/>
                <a:cs typeface="Georgia"/>
              </a:rPr>
              <a:t>Synthetic IV = HV20 × RSI multiplier × skew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858CE7-08C6-4E30-803E-6C0189581063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400050" cy="14287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1451CC-5EA3-4483-A0D4-2A28E3049F4C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1.8x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A1F009-24C8-419D-BE93-459DA25046F6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Panic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A9FA2A-2475-43B1-AC60-1B9862755CCE}"/>
              </a:ext>
            </a:extLst>
          </p:cNvPr>
          <p:cNvSpPr>
            <a:spLocks noGrp="1"/>
          </p:cNvSpPr>
          <p:nvPr/>
        </p:nvSpPr>
        <p:spPr>
          <a:xfrm>
            <a:off x="2114550" y="4238625"/>
            <a:ext cx="400050" cy="9525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7E9D9F-46DB-4262-953E-EA93527ADEB3}"/>
              </a:ext>
            </a:extLst>
          </p:cNvPr>
          <p:cNvSpPr>
            <a:spLocks noGrp="1"/>
          </p:cNvSpPr>
          <p:nvPr/>
        </p:nvSpPr>
        <p:spPr>
          <a:xfrm>
            <a:off x="19431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1.2x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D2AB38-1658-4C14-A841-761632588AC9}"/>
              </a:ext>
            </a:extLst>
          </p:cNvPr>
          <p:cNvSpPr>
            <a:spLocks noGrp="1"/>
          </p:cNvSpPr>
          <p:nvPr/>
        </p:nvSpPr>
        <p:spPr>
          <a:xfrm>
            <a:off x="19812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Bearish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7DB80D-FA4E-44E0-8230-62E8CFF80B77}"/>
              </a:ext>
            </a:extLst>
          </p:cNvPr>
          <p:cNvSpPr>
            <a:spLocks noGrp="1"/>
          </p:cNvSpPr>
          <p:nvPr/>
        </p:nvSpPr>
        <p:spPr>
          <a:xfrm>
            <a:off x="2990850" y="4397375"/>
            <a:ext cx="400050" cy="79375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AF688D-6C08-44C1-8F65-5CC9A15A40D1}"/>
              </a:ext>
            </a:extLst>
          </p:cNvPr>
          <p:cNvSpPr>
            <a:spLocks noGrp="1"/>
          </p:cNvSpPr>
          <p:nvPr/>
        </p:nvSpPr>
        <p:spPr>
          <a:xfrm>
            <a:off x="28194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1.0x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FF4C90-DAF6-4EC0-9803-3C780A698606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Neutral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0C4AA6-2001-447E-AFA4-1B01C236D3DB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400050" cy="714375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17FDB1-793D-406C-B31E-9539335968E5}"/>
              </a:ext>
            </a:extLst>
          </p:cNvPr>
          <p:cNvSpPr>
            <a:spLocks noGrp="1"/>
          </p:cNvSpPr>
          <p:nvPr/>
        </p:nvSpPr>
        <p:spPr>
          <a:xfrm>
            <a:off x="36957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0.9x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61DDA4-3A1E-4160-8AFF-717871A058A1}"/>
              </a:ext>
            </a:extLst>
          </p:cNvPr>
          <p:cNvSpPr>
            <a:spLocks noGrp="1"/>
          </p:cNvSpPr>
          <p:nvPr/>
        </p:nvSpPr>
        <p:spPr>
          <a:xfrm>
            <a:off x="37338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Bullish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648A82-E803-4CA2-8609-36553521D5A3}"/>
              </a:ext>
            </a:extLst>
          </p:cNvPr>
          <p:cNvSpPr>
            <a:spLocks noGrp="1"/>
          </p:cNvSpPr>
          <p:nvPr/>
        </p:nvSpPr>
        <p:spPr>
          <a:xfrm>
            <a:off x="4743450" y="4318000"/>
            <a:ext cx="400050" cy="87312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13A6D1-17AA-4336-88EB-3D93D0DC6386}"/>
              </a:ext>
            </a:extLst>
          </p:cNvPr>
          <p:cNvSpPr>
            <a:spLocks noGrp="1"/>
          </p:cNvSpPr>
          <p:nvPr/>
        </p:nvSpPr>
        <p:spPr>
          <a:xfrm>
            <a:off x="45720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1.1x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2B3EB8-1B31-405D-BC87-0B7299D7DD1F}"/>
              </a:ext>
            </a:extLst>
          </p:cNvPr>
          <p:cNvSpPr>
            <a:spLocks noGrp="1"/>
          </p:cNvSpPr>
          <p:nvPr/>
        </p:nvSpPr>
        <p:spPr>
          <a:xfrm>
            <a:off x="46101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Overheated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C9D7A4-E8AB-49FA-B8B4-9058A7C388C2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428625" cy="428625"/>
          </a:xfrm>
          <a:prstGeom prst="rect">
            <a:avLst/>
          </a:prstGeom>
          <a:solidFill>
            <a:srgbClr val="DDBB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AB8168-F50A-4DC8-BAC1-FCD8D9DC1C33}"/>
              </a:ext>
            </a:extLst>
          </p:cNvPr>
          <p:cNvSpPr>
            <a:spLocks noGrp="1"/>
          </p:cNvSpPr>
          <p:nvPr/>
        </p:nvSpPr>
        <p:spPr>
          <a:xfrm>
            <a:off x="7696200" y="30003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DCD646-E1B9-4743-9D98-E4D1B13306EE}"/>
              </a:ext>
            </a:extLst>
          </p:cNvPr>
          <p:cNvSpPr>
            <a:spLocks noGrp="1"/>
          </p:cNvSpPr>
          <p:nvPr/>
        </p:nvSpPr>
        <p:spPr>
          <a:xfrm>
            <a:off x="8153400" y="30003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DEA2A0-3283-4676-9EA9-C121BC5DCBC9}"/>
              </a:ext>
            </a:extLst>
          </p:cNvPr>
          <p:cNvSpPr>
            <a:spLocks noGrp="1"/>
          </p:cNvSpPr>
          <p:nvPr/>
        </p:nvSpPr>
        <p:spPr>
          <a:xfrm>
            <a:off x="8610600" y="30003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961101-4C33-4B77-9236-64516D3D5247}"/>
              </a:ext>
            </a:extLst>
          </p:cNvPr>
          <p:cNvSpPr>
            <a:spLocks noGrp="1"/>
          </p:cNvSpPr>
          <p:nvPr/>
        </p:nvSpPr>
        <p:spPr>
          <a:xfrm>
            <a:off x="9067800" y="30003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7F3CBF-4399-48EE-B50F-997158FBA1F5}"/>
              </a:ext>
            </a:extLst>
          </p:cNvPr>
          <p:cNvSpPr>
            <a:spLocks noGrp="1"/>
          </p:cNvSpPr>
          <p:nvPr/>
        </p:nvSpPr>
        <p:spPr>
          <a:xfrm>
            <a:off x="9525000" y="30003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7E7D1C-DD5A-4E16-8FA2-46054808917D}"/>
              </a:ext>
            </a:extLst>
          </p:cNvPr>
          <p:cNvSpPr>
            <a:spLocks noGrp="1"/>
          </p:cNvSpPr>
          <p:nvPr/>
        </p:nvSpPr>
        <p:spPr>
          <a:xfrm>
            <a:off x="9982200" y="3000375"/>
            <a:ext cx="428625" cy="428625"/>
          </a:xfrm>
          <a:prstGeom prst="rect">
            <a:avLst/>
          </a:prstGeom>
          <a:solidFill>
            <a:srgbClr val="DDBB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EBBE5B-C1CA-4E8F-9009-FAE798E48F37}"/>
              </a:ext>
            </a:extLst>
          </p:cNvPr>
          <p:cNvSpPr>
            <a:spLocks noGrp="1"/>
          </p:cNvSpPr>
          <p:nvPr/>
        </p:nvSpPr>
        <p:spPr>
          <a:xfrm>
            <a:off x="7239000" y="34575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AEE306-A880-4534-8F58-BF676AECD8A1}"/>
              </a:ext>
            </a:extLst>
          </p:cNvPr>
          <p:cNvSpPr>
            <a:spLocks noGrp="1"/>
          </p:cNvSpPr>
          <p:nvPr/>
        </p:nvSpPr>
        <p:spPr>
          <a:xfrm>
            <a:off x="7696200" y="34575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AB835B-F3B6-45BA-BD06-7FA4B6585B4B}"/>
              </a:ext>
            </a:extLst>
          </p:cNvPr>
          <p:cNvSpPr>
            <a:spLocks noGrp="1"/>
          </p:cNvSpPr>
          <p:nvPr/>
        </p:nvSpPr>
        <p:spPr>
          <a:xfrm>
            <a:off x="8153400" y="34575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3C6695-9F57-417A-8BFA-CD6ED075A7FE}"/>
              </a:ext>
            </a:extLst>
          </p:cNvPr>
          <p:cNvSpPr>
            <a:spLocks noGrp="1"/>
          </p:cNvSpPr>
          <p:nvPr/>
        </p:nvSpPr>
        <p:spPr>
          <a:xfrm>
            <a:off x="8610600" y="34575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B47D05-1236-4F76-B79D-755C24E21748}"/>
              </a:ext>
            </a:extLst>
          </p:cNvPr>
          <p:cNvSpPr>
            <a:spLocks noGrp="1"/>
          </p:cNvSpPr>
          <p:nvPr/>
        </p:nvSpPr>
        <p:spPr>
          <a:xfrm>
            <a:off x="9067800" y="34575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19DEBA-B65B-42FF-AA81-84BD2EBD139D}"/>
              </a:ext>
            </a:extLst>
          </p:cNvPr>
          <p:cNvSpPr>
            <a:spLocks noGrp="1"/>
          </p:cNvSpPr>
          <p:nvPr/>
        </p:nvSpPr>
        <p:spPr>
          <a:xfrm>
            <a:off x="9525000" y="34575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0DD977-CC67-49A2-9C83-3C8686A934DE}"/>
              </a:ext>
            </a:extLst>
          </p:cNvPr>
          <p:cNvSpPr>
            <a:spLocks noGrp="1"/>
          </p:cNvSpPr>
          <p:nvPr/>
        </p:nvSpPr>
        <p:spPr>
          <a:xfrm>
            <a:off x="9982200" y="34575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F77406-7105-49C8-8249-04A321181E0D}"/>
              </a:ext>
            </a:extLst>
          </p:cNvPr>
          <p:cNvSpPr>
            <a:spLocks noGrp="1"/>
          </p:cNvSpPr>
          <p:nvPr/>
        </p:nvSpPr>
        <p:spPr>
          <a:xfrm>
            <a:off x="7239000" y="39147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5842E6-099A-4CEC-B0A5-AC7B59B09C24}"/>
              </a:ext>
            </a:extLst>
          </p:cNvPr>
          <p:cNvSpPr>
            <a:spLocks noGrp="1"/>
          </p:cNvSpPr>
          <p:nvPr/>
        </p:nvSpPr>
        <p:spPr>
          <a:xfrm>
            <a:off x="7696200" y="39147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0D3947-5C0D-4AFB-8AA1-F212F6C64122}"/>
              </a:ext>
            </a:extLst>
          </p:cNvPr>
          <p:cNvSpPr>
            <a:spLocks noGrp="1"/>
          </p:cNvSpPr>
          <p:nvPr/>
        </p:nvSpPr>
        <p:spPr>
          <a:xfrm>
            <a:off x="8153400" y="39147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538897-EABB-4DD2-9D24-C22057BC09C3}"/>
              </a:ext>
            </a:extLst>
          </p:cNvPr>
          <p:cNvSpPr>
            <a:spLocks noGrp="1"/>
          </p:cNvSpPr>
          <p:nvPr/>
        </p:nvSpPr>
        <p:spPr>
          <a:xfrm>
            <a:off x="8610600" y="39147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1D66AC-E088-459E-8D6C-69E389762970}"/>
              </a:ext>
            </a:extLst>
          </p:cNvPr>
          <p:cNvSpPr>
            <a:spLocks noGrp="1"/>
          </p:cNvSpPr>
          <p:nvPr/>
        </p:nvSpPr>
        <p:spPr>
          <a:xfrm>
            <a:off x="9067800" y="39147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966DA5-063F-41FA-8F02-0DA0D798A47E}"/>
              </a:ext>
            </a:extLst>
          </p:cNvPr>
          <p:cNvSpPr>
            <a:spLocks noGrp="1"/>
          </p:cNvSpPr>
          <p:nvPr/>
        </p:nvSpPr>
        <p:spPr>
          <a:xfrm>
            <a:off x="9525000" y="39147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952A14-5AF3-4ED4-9350-A6BEEF61DBFC}"/>
              </a:ext>
            </a:extLst>
          </p:cNvPr>
          <p:cNvSpPr>
            <a:spLocks noGrp="1"/>
          </p:cNvSpPr>
          <p:nvPr/>
        </p:nvSpPr>
        <p:spPr>
          <a:xfrm>
            <a:off x="9982200" y="39147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49BA91-6634-4EA3-AC58-14C0B04EFFFD}"/>
              </a:ext>
            </a:extLst>
          </p:cNvPr>
          <p:cNvSpPr>
            <a:spLocks noGrp="1"/>
          </p:cNvSpPr>
          <p:nvPr/>
        </p:nvSpPr>
        <p:spPr>
          <a:xfrm>
            <a:off x="7239000" y="43719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C6FF9F-5D56-4042-9EDA-3C171FC346AC}"/>
              </a:ext>
            </a:extLst>
          </p:cNvPr>
          <p:cNvSpPr>
            <a:spLocks noGrp="1"/>
          </p:cNvSpPr>
          <p:nvPr/>
        </p:nvSpPr>
        <p:spPr>
          <a:xfrm>
            <a:off x="7696200" y="43719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85029A-BCB0-4614-AD9B-FB8CC9F87023}"/>
              </a:ext>
            </a:extLst>
          </p:cNvPr>
          <p:cNvSpPr>
            <a:spLocks noGrp="1"/>
          </p:cNvSpPr>
          <p:nvPr/>
        </p:nvSpPr>
        <p:spPr>
          <a:xfrm>
            <a:off x="8153400" y="43719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A6048C-5D40-4111-8B77-066ED86E4770}"/>
              </a:ext>
            </a:extLst>
          </p:cNvPr>
          <p:cNvSpPr>
            <a:spLocks noGrp="1"/>
          </p:cNvSpPr>
          <p:nvPr/>
        </p:nvSpPr>
        <p:spPr>
          <a:xfrm>
            <a:off x="8610600" y="43719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BDAE09-AF34-4651-9941-B200567724C1}"/>
              </a:ext>
            </a:extLst>
          </p:cNvPr>
          <p:cNvSpPr>
            <a:spLocks noGrp="1"/>
          </p:cNvSpPr>
          <p:nvPr/>
        </p:nvSpPr>
        <p:spPr>
          <a:xfrm>
            <a:off x="9067800" y="43719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7B6769-F7E8-4526-B9CC-22C91140D00D}"/>
              </a:ext>
            </a:extLst>
          </p:cNvPr>
          <p:cNvSpPr>
            <a:spLocks noGrp="1"/>
          </p:cNvSpPr>
          <p:nvPr/>
        </p:nvSpPr>
        <p:spPr>
          <a:xfrm>
            <a:off x="9525000" y="43719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E6348F3-0906-46CE-9E7C-922E7E0C45C6}"/>
              </a:ext>
            </a:extLst>
          </p:cNvPr>
          <p:cNvSpPr>
            <a:spLocks noGrp="1"/>
          </p:cNvSpPr>
          <p:nvPr/>
        </p:nvSpPr>
        <p:spPr>
          <a:xfrm>
            <a:off x="9982200" y="43719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EC93635-590B-43FF-80EA-178FC79F54BD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FFCB16-5ABB-41FA-A414-00651F077F59}"/>
              </a:ext>
            </a:extLst>
          </p:cNvPr>
          <p:cNvSpPr>
            <a:spLocks noGrp="1"/>
          </p:cNvSpPr>
          <p:nvPr/>
        </p:nvSpPr>
        <p:spPr>
          <a:xfrm>
            <a:off x="7696200" y="48291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6211AC-E178-4C8F-9703-C1DD901C0C09}"/>
              </a:ext>
            </a:extLst>
          </p:cNvPr>
          <p:cNvSpPr>
            <a:spLocks noGrp="1"/>
          </p:cNvSpPr>
          <p:nvPr/>
        </p:nvSpPr>
        <p:spPr>
          <a:xfrm>
            <a:off x="8153400" y="48291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01CFE5B-CD32-4DF1-8109-DF94C0CACAA3}"/>
              </a:ext>
            </a:extLst>
          </p:cNvPr>
          <p:cNvSpPr>
            <a:spLocks noGrp="1"/>
          </p:cNvSpPr>
          <p:nvPr/>
        </p:nvSpPr>
        <p:spPr>
          <a:xfrm>
            <a:off x="8610600" y="48291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ECB567F-AD81-4490-93F5-03155507B29E}"/>
              </a:ext>
            </a:extLst>
          </p:cNvPr>
          <p:cNvSpPr>
            <a:spLocks noGrp="1"/>
          </p:cNvSpPr>
          <p:nvPr/>
        </p:nvSpPr>
        <p:spPr>
          <a:xfrm>
            <a:off x="9067800" y="48291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D01B95-BEAF-47B8-8442-1A2F8A6FA943}"/>
              </a:ext>
            </a:extLst>
          </p:cNvPr>
          <p:cNvSpPr>
            <a:spLocks noGrp="1"/>
          </p:cNvSpPr>
          <p:nvPr/>
        </p:nvSpPr>
        <p:spPr>
          <a:xfrm>
            <a:off x="9525000" y="48291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F0B9A4-F5F2-40F1-A11F-8FA0DC4CCCAE}"/>
              </a:ext>
            </a:extLst>
          </p:cNvPr>
          <p:cNvSpPr>
            <a:spLocks noGrp="1"/>
          </p:cNvSpPr>
          <p:nvPr/>
        </p:nvSpPr>
        <p:spPr>
          <a:xfrm>
            <a:off x="9982200" y="48291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A5C63C3-3984-4310-BBD0-6C9A2756B035}"/>
              </a:ext>
            </a:extLst>
          </p:cNvPr>
          <p:cNvSpPr>
            <a:spLocks noGrp="1"/>
          </p:cNvSpPr>
          <p:nvPr/>
        </p:nvSpPr>
        <p:spPr>
          <a:xfrm>
            <a:off x="7239000" y="5476875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Illustrative surface: skew lifts IV away from ATM</a:t>
            </a:r>
          </a:p>
        </p:txBody>
      </p:sp>
    </p:spTree>
    <p:extLst>
      <p:ext uri="{BB962C8B-B14F-4D97-AF65-F5344CB8AC3E}">
        <p14:creationId xmlns:p14="http://schemas.microsoft.com/office/powerpoint/2010/main" val="1264173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2AF1A81-0943-4226-AE4F-CB18BE250F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2AC6BC3-EBAF-4B76-AA3C-E224B89A65A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BACKTEST LAYER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B176A697-1BE0-401D-B084-3D2D36A5BBCB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695A75-A02E-403E-AD97-4B527C02FDE5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Once chains are generated, WHEELS, LEAPS, and spreads become event-driven tests.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30891C-130A-4B4C-96CF-A789235268CF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The current implementation covers the synthetic-chain API and WHEELS backtest. LEAPS, PMCC, and spreads can reuse the same contract selection, repricing, and settlement machinery.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F095F2-F9CB-4B05-8849-F7DF4E6DEC20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BCC536-81D8-4504-B128-5026E0C4502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06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EB8B50-D153-434F-9CFC-B46313192084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Strategy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490359-FD97-4F22-96CF-775C23A91B8F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726323-E21E-4DAF-83AC-7FAD7C966497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848745-FC77-49BA-A80D-87D7778BDAEF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47625" cy="11239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C3BA5A-2481-4F8A-8668-9791A7FD75B6}"/>
              </a:ext>
            </a:extLst>
          </p:cNvPr>
          <p:cNvSpPr>
            <a:spLocks noGrp="1"/>
          </p:cNvSpPr>
          <p:nvPr/>
        </p:nvSpPr>
        <p:spPr>
          <a:xfrm>
            <a:off x="108585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Cash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FB15D5-297C-4448-BB2F-7647B8B74BB7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Sell Put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Delta ≈ -0.30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5FBF2A9-9E08-4A9F-86BE-74EE2A8F3914}"/>
              </a:ext>
            </a:extLst>
          </p:cNvPr>
          <p:cNvSpPr>
            <a:spLocks noGrp="1"/>
          </p:cNvSpPr>
          <p:nvPr/>
        </p:nvSpPr>
        <p:spPr>
          <a:xfrm>
            <a:off x="3009900" y="3752850"/>
            <a:ext cx="3619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A5A513-0130-47E4-9B1D-937E7DAB8A53}"/>
              </a:ext>
            </a:extLst>
          </p:cNvPr>
          <p:cNvSpPr>
            <a:spLocks noGrp="1"/>
          </p:cNvSpPr>
          <p:nvPr/>
        </p:nvSpPr>
        <p:spPr>
          <a:xfrm>
            <a:off x="348615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41534-031B-4611-BA36-0B08FE0F088B}"/>
              </a:ext>
            </a:extLst>
          </p:cNvPr>
          <p:cNvSpPr>
            <a:spLocks noGrp="1"/>
          </p:cNvSpPr>
          <p:nvPr/>
        </p:nvSpPr>
        <p:spPr>
          <a:xfrm>
            <a:off x="3486150" y="3190875"/>
            <a:ext cx="47625" cy="11239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1809C3-6A93-48F4-80BB-2559E86A9C44}"/>
              </a:ext>
            </a:extLst>
          </p:cNvPr>
          <p:cNvSpPr>
            <a:spLocks noGrp="1"/>
          </p:cNvSpPr>
          <p:nvPr/>
        </p:nvSpPr>
        <p:spPr>
          <a:xfrm>
            <a:off x="365760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Expiry wait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98D644-2C0A-4E0F-A238-9ED356850161}"/>
              </a:ext>
            </a:extLst>
          </p:cNvPr>
          <p:cNvSpPr>
            <a:spLocks noGrp="1"/>
          </p:cNvSpPr>
          <p:nvPr/>
        </p:nvSpPr>
        <p:spPr>
          <a:xfrm>
            <a:off x="365760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OTM: keep premium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ITM: assigned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4123D0-7B4A-4411-B6E5-88E0E17877B7}"/>
              </a:ext>
            </a:extLst>
          </p:cNvPr>
          <p:cNvSpPr>
            <a:spLocks noGrp="1"/>
          </p:cNvSpPr>
          <p:nvPr/>
        </p:nvSpPr>
        <p:spPr>
          <a:xfrm>
            <a:off x="5581650" y="3752850"/>
            <a:ext cx="3619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812DB5-9FB6-4EAE-AC5F-60E61AD3DE1C}"/>
              </a:ext>
            </a:extLst>
          </p:cNvPr>
          <p:cNvSpPr>
            <a:spLocks noGrp="1"/>
          </p:cNvSpPr>
          <p:nvPr/>
        </p:nvSpPr>
        <p:spPr>
          <a:xfrm>
            <a:off x="605790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8A59DC-98FE-42D6-A0D2-73779E464422}"/>
              </a:ext>
            </a:extLst>
          </p:cNvPr>
          <p:cNvSpPr>
            <a:spLocks noGrp="1"/>
          </p:cNvSpPr>
          <p:nvPr/>
        </p:nvSpPr>
        <p:spPr>
          <a:xfrm>
            <a:off x="6057900" y="3190875"/>
            <a:ext cx="47625" cy="112395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43C9A5-3C51-4C8C-8B20-D58ADCBAEAF6}"/>
              </a:ext>
            </a:extLst>
          </p:cNvPr>
          <p:cNvSpPr>
            <a:spLocks noGrp="1"/>
          </p:cNvSpPr>
          <p:nvPr/>
        </p:nvSpPr>
        <p:spPr>
          <a:xfrm>
            <a:off x="622935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Shares held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814327-AB01-4787-9628-46371697509E}"/>
              </a:ext>
            </a:extLst>
          </p:cNvPr>
          <p:cNvSpPr>
            <a:spLocks noGrp="1"/>
          </p:cNvSpPr>
          <p:nvPr/>
        </p:nvSpPr>
        <p:spPr>
          <a:xfrm>
            <a:off x="622935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Sell Covered Call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Delta ≈ 0.30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3810FD2-2A25-4F5F-AC72-B521E164DE7C}"/>
              </a:ext>
            </a:extLst>
          </p:cNvPr>
          <p:cNvSpPr>
            <a:spLocks noGrp="1"/>
          </p:cNvSpPr>
          <p:nvPr/>
        </p:nvSpPr>
        <p:spPr>
          <a:xfrm>
            <a:off x="8153400" y="3752850"/>
            <a:ext cx="3619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16AFD9-222F-4F76-B87C-31232F82ECEA}"/>
              </a:ext>
            </a:extLst>
          </p:cNvPr>
          <p:cNvSpPr>
            <a:spLocks noGrp="1"/>
          </p:cNvSpPr>
          <p:nvPr/>
        </p:nvSpPr>
        <p:spPr>
          <a:xfrm>
            <a:off x="862965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400FF6-F8CA-4384-842E-55AFF3423ACC}"/>
              </a:ext>
            </a:extLst>
          </p:cNvPr>
          <p:cNvSpPr>
            <a:spLocks noGrp="1"/>
          </p:cNvSpPr>
          <p:nvPr/>
        </p:nvSpPr>
        <p:spPr>
          <a:xfrm>
            <a:off x="8629650" y="3190875"/>
            <a:ext cx="47625" cy="11239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33A15B-1575-49FB-BD17-5FE4DC5F34BF}"/>
              </a:ext>
            </a:extLst>
          </p:cNvPr>
          <p:cNvSpPr>
            <a:spLocks noGrp="1"/>
          </p:cNvSpPr>
          <p:nvPr/>
        </p:nvSpPr>
        <p:spPr>
          <a:xfrm>
            <a:off x="880110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Settlement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903E4D-DCE5-4789-8E4C-C0141FC35C18}"/>
              </a:ext>
            </a:extLst>
          </p:cNvPr>
          <p:cNvSpPr>
            <a:spLocks noGrp="1"/>
          </p:cNvSpPr>
          <p:nvPr/>
        </p:nvSpPr>
        <p:spPr>
          <a:xfrm>
            <a:off x="880110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OTM: repeat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ITM: called away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3A93D8-58E4-4354-8873-98416DDF6B4C}"/>
              </a:ext>
            </a:extLst>
          </p:cNvPr>
          <p:cNvSpPr>
            <a:spLocks noGrp="1"/>
          </p:cNvSpPr>
          <p:nvPr/>
        </p:nvSpPr>
        <p:spPr>
          <a:xfrm>
            <a:off x="1238250" y="4905375"/>
            <a:ext cx="895350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0F43F2-F491-49EA-8949-1766B9F894A4}"/>
              </a:ext>
            </a:extLst>
          </p:cNvPr>
          <p:cNvSpPr>
            <a:spLocks noGrp="1"/>
          </p:cNvSpPr>
          <p:nvPr/>
        </p:nvSpPr>
        <p:spPr>
          <a:xfrm>
            <a:off x="2000250" y="5191125"/>
            <a:ext cx="1123950" cy="26670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2FF29F-070C-4830-95A2-61961739983A}"/>
              </a:ext>
            </a:extLst>
          </p:cNvPr>
          <p:cNvSpPr>
            <a:spLocks noGrp="1"/>
          </p:cNvSpPr>
          <p:nvPr/>
        </p:nvSpPr>
        <p:spPr>
          <a:xfrm>
            <a:off x="211455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WHEELS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A1C1A-1EE6-4B4A-978D-A18389862EEC}"/>
              </a:ext>
            </a:extLst>
          </p:cNvPr>
          <p:cNvSpPr>
            <a:spLocks noGrp="1"/>
          </p:cNvSpPr>
          <p:nvPr/>
        </p:nvSpPr>
        <p:spPr>
          <a:xfrm>
            <a:off x="3810000" y="5191125"/>
            <a:ext cx="1123950" cy="26670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4C9A02-4242-43F4-A6A3-58186AE6E832}"/>
              </a:ext>
            </a:extLst>
          </p:cNvPr>
          <p:cNvSpPr>
            <a:spLocks noGrp="1"/>
          </p:cNvSpPr>
          <p:nvPr/>
        </p:nvSpPr>
        <p:spPr>
          <a:xfrm>
            <a:off x="392430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LEAPS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B46A8B-826F-4DFB-ACC6-4EE43DB90AD7}"/>
              </a:ext>
            </a:extLst>
          </p:cNvPr>
          <p:cNvSpPr>
            <a:spLocks noGrp="1"/>
          </p:cNvSpPr>
          <p:nvPr/>
        </p:nvSpPr>
        <p:spPr>
          <a:xfrm>
            <a:off x="5619750" y="5191125"/>
            <a:ext cx="1123950" cy="2667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6DB098-73FA-4830-9D0F-8B22A3DD7367}"/>
              </a:ext>
            </a:extLst>
          </p:cNvPr>
          <p:cNvSpPr>
            <a:spLocks noGrp="1"/>
          </p:cNvSpPr>
          <p:nvPr/>
        </p:nvSpPr>
        <p:spPr>
          <a:xfrm>
            <a:off x="573405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PMCC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4B3B87-56C7-43BF-94A8-B5F10E8C898A}"/>
              </a:ext>
            </a:extLst>
          </p:cNvPr>
          <p:cNvSpPr>
            <a:spLocks noGrp="1"/>
          </p:cNvSpPr>
          <p:nvPr/>
        </p:nvSpPr>
        <p:spPr>
          <a:xfrm>
            <a:off x="7429500" y="5191125"/>
            <a:ext cx="1123950" cy="26670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EFC075-4436-4D66-AC90-DE654772EA7E}"/>
              </a:ext>
            </a:extLst>
          </p:cNvPr>
          <p:cNvSpPr>
            <a:spLocks noGrp="1"/>
          </p:cNvSpPr>
          <p:nvPr/>
        </p:nvSpPr>
        <p:spPr>
          <a:xfrm>
            <a:off x="754380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SPREADS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827B24-46D2-4CA6-8338-73529B7C6172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The same chain data can drive multiple strategies; differences live in contract selection and state transitions.</a:t>
            </a:r>
          </a:p>
        </p:txBody>
      </p:sp>
    </p:spTree>
    <p:extLst>
      <p:ext uri="{BB962C8B-B14F-4D97-AF65-F5344CB8AC3E}">
        <p14:creationId xmlns:p14="http://schemas.microsoft.com/office/powerpoint/2010/main" val="33155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C437B71-92F5-4792-81D1-57F2F47B50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2C3B8CF2-B6FA-4DE1-90FB-716CFC27E5D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ENGINEERING CHOICE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2343BD3-3065-4FA1-9A96-117763F651A3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DFE11-A602-4881-B23E-3ECB6A85803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On-demand chain generation is a better fit than storing full historical chains.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8E9D0-0B2C-499D-833E-F35EB0EDBDE9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Daily synthetic chains are cheap to compute at request time. BRstock stores compact calibration parameters and reports, not full historical option chains, alongside backtest results, trades, and equity curves.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FDC85-BFA4-4369-9EFD-461BE120D477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4FE5A9-2FF8-40C2-9124-941C581062C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07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54C2D6-B4C4-4CC4-BA3B-DEB11CF808AF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Cost and complexity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F03B82-4497-403C-8F8E-DEE24EE56F15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1A7BB7-5EDA-4CD6-A62C-546D3215B49B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3333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8D74F6-527D-4691-BA6F-44B997A581DB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7625" cy="16192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6231D-2E0D-42FF-8348-56941D7F68A0}"/>
              </a:ext>
            </a:extLst>
          </p:cNvPr>
          <p:cNvSpPr>
            <a:spLocks noGrp="1"/>
          </p:cNvSpPr>
          <p:nvPr/>
        </p:nvSpPr>
        <p:spPr>
          <a:xfrm>
            <a:off x="1600200" y="3295650"/>
            <a:ext cx="3028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Store full chain history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0F944-9170-4B37-BD84-9E9AE656583E}"/>
              </a:ext>
            </a:extLst>
          </p:cNvPr>
          <p:cNvSpPr>
            <a:spLocks noGrp="1"/>
          </p:cNvSpPr>
          <p:nvPr/>
        </p:nvSpPr>
        <p:spPr>
          <a:xfrm>
            <a:off x="1600200" y="3552825"/>
            <a:ext cx="30099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Large tables + high cost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Clean every contract lifecycle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Better for production archival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85F133-13DB-4F21-810C-CB4FAFA43668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3333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E690B7-98D0-4DC3-AA79-CD04945A3202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47625" cy="16192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FB7E1A-4905-4A46-82D9-00691430A22E}"/>
              </a:ext>
            </a:extLst>
          </p:cNvPr>
          <p:cNvSpPr>
            <a:spLocks noGrp="1"/>
          </p:cNvSpPr>
          <p:nvPr/>
        </p:nvSpPr>
        <p:spPr>
          <a:xfrm>
            <a:off x="7600950" y="3295650"/>
            <a:ext cx="3028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Generate on 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7ACDFE-CA48-4FC0-8E7B-F2EDBFF817B1}"/>
              </a:ext>
            </a:extLst>
          </p:cNvPr>
          <p:cNvSpPr>
            <a:spLocks noGrp="1"/>
          </p:cNvSpPr>
          <p:nvPr/>
        </p:nvSpPr>
        <p:spPr>
          <a:xfrm>
            <a:off x="7600950" y="3552825"/>
            <a:ext cx="30099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Lightweight daily compute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Parameters make chains reproducible</a:t>
            </a:r>
          </a:p>
          <a:p>
            <a:pPr algn="l">
              <a:def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Better for research and calibration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3CECDA-9DDF-4CAE-979A-D3D1854DCF6A}"/>
              </a:ext>
            </a:extLst>
          </p:cNvPr>
          <p:cNvSpPr>
            <a:spLocks noGrp="1"/>
          </p:cNvSpPr>
          <p:nvPr/>
        </p:nvSpPr>
        <p:spPr>
          <a:xfrm>
            <a:off x="5715000" y="3714750"/>
            <a:ext cx="762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B7791F"/>
                </a:solidFill>
                <a:latin typeface="Georgia"/>
                <a:ea typeface="Georgia"/>
                <a:cs typeface="Georgia"/>
              </a:rPr>
              <a:t>VS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676A18-D70E-45DD-985E-E07B9B2004B6}"/>
              </a:ext>
            </a:extLst>
          </p:cNvPr>
          <p:cNvSpPr>
            <a:spLocks noGrp="1"/>
          </p:cNvSpPr>
          <p:nvPr/>
        </p:nvSpPr>
        <p:spPr>
          <a:xfrm>
            <a:off x="3886200" y="519112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76B5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76B5F"/>
                </a:solidFill>
                <a:latin typeface="Avenir Next"/>
                <a:ea typeface="Avenir Next"/>
                <a:cs typeface="Avenir Next"/>
              </a:rPr>
              <a:t>GET /api/options/synth/chain/{ticker}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54DEC5-E55A-4F36-92AA-C4144763DB7F}"/>
              </a:ext>
            </a:extLst>
          </p:cNvPr>
          <p:cNvSpPr>
            <a:spLocks noGrp="1"/>
          </p:cNvSpPr>
          <p:nvPr/>
        </p:nvSpPr>
        <p:spPr>
          <a:xfrm>
            <a:off x="3886200" y="545782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315F72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315F72"/>
                </a:solidFill>
                <a:latin typeface="Avenir Next"/>
                <a:ea typeface="Avenir Next"/>
                <a:cs typeface="Avenir Next"/>
              </a:rPr>
              <a:t>POST /api/options/backtest/wheels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FAA2A-46D7-4274-AB2F-FD97E1BF16FE}"/>
              </a:ext>
            </a:extLst>
          </p:cNvPr>
          <p:cNvSpPr>
            <a:spLocks noGrp="1"/>
          </p:cNvSpPr>
          <p:nvPr/>
        </p:nvSpPr>
        <p:spPr>
          <a:xfrm>
            <a:off x="3886200" y="572452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POST /api/options/calibration/run</a:t>
            </a:r>
          </a:p>
        </p:txBody>
      </p:sp>
    </p:spTree>
    <p:extLst>
      <p:ext uri="{BB962C8B-B14F-4D97-AF65-F5344CB8AC3E}">
        <p14:creationId xmlns:p14="http://schemas.microsoft.com/office/powerpoint/2010/main" val="997933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A9A617-69BA-4D20-A546-E7DED1849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81B0F14F-F9D0-45F3-97D3-0276FC54120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CALIBRATION LOOP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C00396A-B0FC-4C3C-B82D-F086D6A84666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957033-1A52-428A-B602-22AA3460CEF3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5201E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1E"/>
                </a:solidFill>
                <a:latin typeface="Georgia"/>
                <a:ea typeface="Georgia"/>
                <a:cs typeface="Georgia"/>
              </a:rPr>
              <a:t>Clear model boundaries make the simulator useful rather than misleading.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41DAF-C118-4794-9715-51D63D2405A7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The calibration loop now compares Schwab real quotes against synthetic contracts, filters low-quality quotes, measures before/after error, and updates bucketed correction factors.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A5CEB8-B9E6-4798-86BD-4C4242F692D1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993BC-9B54-402A-876E-11E634D442D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08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67FB0B-9BBB-4CD0-8B82-8D0E4C925854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Current loop and next steps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8AE54-EECB-4007-AC06-8D94669204F3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16240C-2228-487D-B2E7-01F0E45690DF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6B5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6B5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74774-0553-4EFF-B9CC-0531F686B0B7}"/>
              </a:ext>
            </a:extLst>
          </p:cNvPr>
          <p:cNvSpPr>
            <a:spLocks noGrp="1"/>
          </p:cNvSpPr>
          <p:nvPr/>
        </p:nvSpPr>
        <p:spPr>
          <a:xfrm>
            <a:off x="2000250" y="3133725"/>
            <a:ext cx="7000875" cy="9525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08498E-F8FD-41B5-BB38-2B9B30FB7CDF}"/>
              </a:ext>
            </a:extLst>
          </p:cNvPr>
          <p:cNvSpPr>
            <a:spLocks noGrp="1"/>
          </p:cNvSpPr>
          <p:nvPr/>
        </p:nvSpPr>
        <p:spPr>
          <a:xfrm>
            <a:off x="2171700" y="2981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Available now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F3A8C1-7F42-46A9-87B0-FBA2583E2D22}"/>
              </a:ext>
            </a:extLst>
          </p:cNvPr>
          <p:cNvSpPr>
            <a:spLocks noGrp="1"/>
          </p:cNvSpPr>
          <p:nvPr/>
        </p:nvSpPr>
        <p:spPr>
          <a:xfrm>
            <a:off x="4095750" y="2990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Synthetic-chain API, WHEELS backtest, result history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351B55-51AC-41EF-9A5A-75C873E4563C}"/>
              </a:ext>
            </a:extLst>
          </p:cNvPr>
          <p:cNvSpPr>
            <a:spLocks noGrp="1"/>
          </p:cNvSpPr>
          <p:nvPr/>
        </p:nvSpPr>
        <p:spPr>
          <a:xfrm>
            <a:off x="1428750" y="366712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15F72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15F7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E3C183-C862-44DD-81C3-EDFC4ABF79B6}"/>
              </a:ext>
            </a:extLst>
          </p:cNvPr>
          <p:cNvSpPr>
            <a:spLocks noGrp="1"/>
          </p:cNvSpPr>
          <p:nvPr/>
        </p:nvSpPr>
        <p:spPr>
          <a:xfrm>
            <a:off x="2000250" y="3800475"/>
            <a:ext cx="7000875" cy="9525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4D3A09-A40C-4BBA-A687-A9EE3BD86E50}"/>
              </a:ext>
            </a:extLst>
          </p:cNvPr>
          <p:cNvSpPr>
            <a:spLocks noGrp="1"/>
          </p:cNvSpPr>
          <p:nvPr/>
        </p:nvSpPr>
        <p:spPr>
          <a:xfrm>
            <a:off x="2171700" y="36480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Schwab samples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4B9EFE-8799-40F5-BCA7-1C54D1249928}"/>
              </a:ext>
            </a:extLst>
          </p:cNvPr>
          <p:cNvSpPr>
            <a:spLocks noGrp="1"/>
          </p:cNvSpPr>
          <p:nvPr/>
        </p:nvSpPr>
        <p:spPr>
          <a:xfrm>
            <a:off x="4095750" y="3657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Current Schwab chains calibrate IV, mid, spread, and delta buckets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DB39A6-0D12-4E01-BE8D-02847BFAD115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7791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5D7803-7BD6-4A36-97BE-E45546ECF071}"/>
              </a:ext>
            </a:extLst>
          </p:cNvPr>
          <p:cNvSpPr>
            <a:spLocks noGrp="1"/>
          </p:cNvSpPr>
          <p:nvPr/>
        </p:nvSpPr>
        <p:spPr>
          <a:xfrm>
            <a:off x="2000250" y="4467225"/>
            <a:ext cx="7000875" cy="952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08E524-84A6-463D-A121-C9D3CD178FFC}"/>
              </a:ext>
            </a:extLst>
          </p:cNvPr>
          <p:cNvSpPr>
            <a:spLocks noGrp="1"/>
          </p:cNvSpPr>
          <p:nvPr/>
        </p:nvSpPr>
        <p:spPr>
          <a:xfrm>
            <a:off x="2171700" y="43148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Pricing upgrade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B6E60C-D9EC-4356-992F-1A6AB634B532}"/>
              </a:ext>
            </a:extLst>
          </p:cNvPr>
          <p:cNvSpPr>
            <a:spLocks noGrp="1"/>
          </p:cNvSpPr>
          <p:nvPr/>
        </p:nvSpPr>
        <p:spPr>
          <a:xfrm>
            <a:off x="4095750" y="43243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American binomial tree, dividends, liquidity tiers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933904-20FF-4F55-B0BA-B5362AA7D537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A4F3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9A4F3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0AA9D1-1F98-4433-A41E-A7EE08B28EF1}"/>
              </a:ext>
            </a:extLst>
          </p:cNvPr>
          <p:cNvSpPr>
            <a:spLocks noGrp="1"/>
          </p:cNvSpPr>
          <p:nvPr/>
        </p:nvSpPr>
        <p:spPr>
          <a:xfrm>
            <a:off x="2000250" y="5133975"/>
            <a:ext cx="7000875" cy="9525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F1A728-283E-4F82-8F0C-6C2D829E15E2}"/>
              </a:ext>
            </a:extLst>
          </p:cNvPr>
          <p:cNvSpPr>
            <a:spLocks noGrp="1"/>
          </p:cNvSpPr>
          <p:nvPr/>
        </p:nvSpPr>
        <p:spPr>
          <a:xfrm>
            <a:off x="2171700" y="49815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5201E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5201E"/>
                </a:solidFill>
                <a:latin typeface="Avenir Next"/>
                <a:ea typeface="Avenir Next"/>
                <a:cs typeface="Avenir Next"/>
              </a:rPr>
              <a:t>Strategy expansion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D2D55D-BF28-45C6-80CA-CBF3724A29C8}"/>
              </a:ext>
            </a:extLst>
          </p:cNvPr>
          <p:cNvSpPr>
            <a:spLocks noGrp="1"/>
          </p:cNvSpPr>
          <p:nvPr/>
        </p:nvSpPr>
        <p:spPr>
          <a:xfrm>
            <a:off x="4095750" y="49911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1706C"/>
                </a:solidFill>
                <a:latin typeface="Avenir Next"/>
                <a:ea typeface="Avenir Next"/>
                <a:cs typeface="Avenir Next"/>
              </a:rPr>
              <a:t>LEAPS, PMCC, vertical spreads, parameter scans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1B5E5E-C6B2-44A6-B906-1AF7098F3F7C}"/>
              </a:ext>
            </a:extLst>
          </p:cNvPr>
          <p:cNvSpPr>
            <a:spLocks noGrp="1"/>
          </p:cNvSpPr>
          <p:nvPr/>
        </p:nvSpPr>
        <p:spPr>
          <a:xfrm>
            <a:off x="3505200" y="5715000"/>
            <a:ext cx="5143500" cy="266700"/>
          </a:xfrm>
          <a:prstGeom prst="rect">
            <a:avLst/>
          </a:prstGeom>
          <a:solidFill>
            <a:srgbClr val="111C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A01D68-FEA4-4852-B3C9-3D0877586E4A}"/>
              </a:ext>
            </a:extLst>
          </p:cNvPr>
          <p:cNvSpPr>
            <a:spLocks noGrp="1"/>
          </p:cNvSpPr>
          <p:nvPr/>
        </p:nvSpPr>
        <p:spPr>
          <a:xfrm>
            <a:off x="3619500" y="5772150"/>
            <a:ext cx="491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Positioning: research and validation tool, not a trading-signal promise</a:t>
            </a:r>
          </a:p>
        </p:txBody>
      </p:sp>
    </p:spTree>
    <p:extLst>
      <p:ext uri="{BB962C8B-B14F-4D97-AF65-F5344CB8AC3E}">
        <p14:creationId xmlns:p14="http://schemas.microsoft.com/office/powerpoint/2010/main" val="3854147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867</Words>
  <Application>Microsoft Macintosh PowerPoint</Application>
  <DocSecurity>0</DocSecurity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Avenir Next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2</cp:revision>
  <dcterms:created xsi:type="dcterms:W3CDTF">2026-05-09T20:50:08Z</dcterms:created>
  <dcterms:modified xsi:type="dcterms:W3CDTF">2026-05-09T20:59:07Z</dcterms:modified>
</cp:coreProperties>
</file>